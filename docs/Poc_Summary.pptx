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9835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822960" y="2331720"/>
            <a:ext cx="1051560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AGENTIC AI PREDICTIVE MAINTENANCE</a:t>
            </a:r>
            <a:endParaRPr lang="en-US" sz="4000" dirty="0"/>
          </a:p>
        </p:txBody>
      </p:sp>
      <p:sp>
        <p:nvSpPr>
          <p:cNvPr id="3" name="Text 1"/>
          <p:cNvSpPr/>
          <p:nvPr/>
        </p:nvSpPr>
        <p:spPr>
          <a:xfrm>
            <a:off x="822960" y="3246120"/>
            <a:ext cx="9875520" cy="822960"/>
          </a:xfrm>
          <a:prstGeom prst="rect">
            <a:avLst/>
          </a:prstGeom>
          <a:noFill/>
          <a:ln/>
        </p:spPr>
        <p:txBody>
          <a:bodyPr wrap="square" lIns="0" tIns="0" rIns="0" bIns="0" rtlCol="0" anchor="ctr"/>
          <a:lstStyle/>
          <a:p>
            <a:pPr marL="0" indent="0" algn="l">
              <a:lnSpc>
                <a:spcPct val="125000"/>
              </a:lnSpc>
              <a:buNone/>
            </a:pPr>
            <a:r>
              <a:rPr lang="en-US" sz="1600" dirty="0">
                <a:solidFill>
                  <a:srgbClr val="CADCFC"/>
                </a:solidFill>
                <a:latin typeface="Calibri" pitchFamily="34" charset="0"/>
                <a:ea typeface="Calibri" pitchFamily="34" charset="-122"/>
                <a:cs typeface="Calibri" pitchFamily="34" charset="-120"/>
              </a:rPr>
              <a:t>A 7-agent, retrieval-grounded AI system that predicts equipment failure, explains its</a:t>
            </a:r>
            <a:endParaRPr lang="en-US" sz="1600" dirty="0"/>
          </a:p>
          <a:p>
            <a:pPr marL="0" indent="0" algn="l">
              <a:lnSpc>
                <a:spcPct val="125000"/>
              </a:lnSpc>
              <a:buNone/>
            </a:pPr>
            <a:r>
              <a:rPr lang="en-US" sz="1600" dirty="0">
                <a:solidFill>
                  <a:srgbClr val="CADCFC"/>
                </a:solidFill>
                <a:latin typeface="Calibri" pitchFamily="34" charset="0"/>
                <a:ea typeface="Calibri" pitchFamily="34" charset="-122"/>
                <a:cs typeface="Calibri" pitchFamily="34" charset="-120"/>
              </a:rPr>
              <a:t>diagnosis, and recommends action — built and validated on real historical failure data.</a:t>
            </a:r>
            <a:endParaRPr lang="en-US" sz="1600" dirty="0"/>
          </a:p>
        </p:txBody>
      </p:sp>
      <p:sp>
        <p:nvSpPr>
          <p:cNvPr id="4" name="Shape 2"/>
          <p:cNvSpPr/>
          <p:nvPr/>
        </p:nvSpPr>
        <p:spPr>
          <a:xfrm>
            <a:off x="822960" y="4251960"/>
            <a:ext cx="502920" cy="54864"/>
          </a:xfrm>
          <a:prstGeom prst="rect">
            <a:avLst/>
          </a:prstGeom>
          <a:solidFill>
            <a:srgbClr val="02C39A"/>
          </a:solidFill>
          <a:ln/>
        </p:spPr>
      </p:sp>
      <p:sp>
        <p:nvSpPr>
          <p:cNvPr id="5" name="Text 3"/>
          <p:cNvSpPr/>
          <p:nvPr/>
        </p:nvSpPr>
        <p:spPr>
          <a:xfrm>
            <a:off x="822960" y="5989320"/>
            <a:ext cx="7315200" cy="365760"/>
          </a:xfrm>
          <a:prstGeom prst="rect">
            <a:avLst/>
          </a:prstGeom>
          <a:noFill/>
          <a:ln/>
        </p:spPr>
        <p:txBody>
          <a:bodyPr wrap="square" lIns="0" tIns="0" rIns="0" bIns="0" rtlCol="0" anchor="ctr"/>
          <a:lstStyle/>
          <a:p>
            <a:pPr marL="0" indent="0" algn="l">
              <a:buNone/>
            </a:pPr>
            <a:r>
              <a:rPr lang="en-US" sz="1200" dirty="0">
                <a:solidFill>
                  <a:srgbClr val="CADCFC"/>
                </a:solidFill>
                <a:latin typeface="Calibri" pitchFamily="34" charset="0"/>
                <a:ea typeface="Calibri" pitchFamily="34" charset="-122"/>
                <a:cs typeface="Calibri" pitchFamily="34" charset="-120"/>
              </a:rPr>
              <a:t>PROOF OF CONCEPT  ·  CoBuildX Manufacturing AI Practice</a:t>
            </a:r>
            <a:endParaRPr lang="en-US" sz="1200" dirty="0"/>
          </a:p>
        </p:txBody>
      </p:sp>
      <p:sp>
        <p:nvSpPr>
          <p:cNvPr id="6" name="Text 4"/>
          <p:cNvSpPr/>
          <p:nvPr/>
        </p:nvSpPr>
        <p:spPr>
          <a:xfrm>
            <a:off x="822960" y="685800"/>
            <a:ext cx="7315200" cy="320040"/>
          </a:xfrm>
          <a:prstGeom prst="rect">
            <a:avLst/>
          </a:prstGeom>
          <a:noFill/>
          <a:ln/>
        </p:spPr>
        <p:txBody>
          <a:bodyPr wrap="square" lIns="0" tIns="0" rIns="0" bIns="0" rtlCol="0" anchor="ctr"/>
          <a:lstStyle/>
          <a:p>
            <a:pPr marL="0" indent="0" algn="l">
              <a:buNone/>
            </a:pPr>
            <a:r>
              <a:rPr lang="en-US" sz="1200" b="1" kern="0" spc="100" dirty="0">
                <a:solidFill>
                  <a:srgbClr val="02C39A"/>
                </a:solidFill>
                <a:latin typeface="Calibri" pitchFamily="34" charset="0"/>
                <a:ea typeface="Calibri" pitchFamily="34" charset="-122"/>
                <a:cs typeface="Calibri" pitchFamily="34" charset="-120"/>
              </a:rPr>
              <a:t>Azure Predictive Maintenance dataset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200" b="1" kern="0" spc="100" dirty="0">
                <a:solidFill>
                  <a:srgbClr val="02C39A"/>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777240"/>
            <a:ext cx="6126480" cy="1188720"/>
          </a:xfrm>
          <a:prstGeom prst="rect">
            <a:avLst/>
          </a:prstGeom>
          <a:noFill/>
          <a:ln/>
        </p:spPr>
        <p:txBody>
          <a:bodyPr wrap="square" lIns="0" tIns="0" rIns="0" bIns="0" rtlCol="0" anchor="ctr"/>
          <a:lstStyle/>
          <a:p>
            <a:pPr marL="0" indent="0">
              <a:lnSpc>
                <a:spcPct val="110000"/>
              </a:lnSpc>
              <a:buNone/>
            </a:pPr>
            <a:r>
              <a:rPr lang="en-US" sz="2700" b="1" dirty="0">
                <a:solidFill>
                  <a:srgbClr val="1C1C28"/>
                </a:solidFill>
                <a:latin typeface="Cambria" pitchFamily="34" charset="0"/>
                <a:ea typeface="Cambria" pitchFamily="34" charset="-122"/>
                <a:cs typeface="Cambria" pitchFamily="34" charset="-120"/>
              </a:rPr>
              <a:t>Equipment failures are still caught too late</a:t>
            </a:r>
            <a:endParaRPr lang="en-US" sz="2700" dirty="0"/>
          </a:p>
        </p:txBody>
      </p:sp>
      <p:sp>
        <p:nvSpPr>
          <p:cNvPr id="4" name="Text 2"/>
          <p:cNvSpPr/>
          <p:nvPr/>
        </p:nvSpPr>
        <p:spPr>
          <a:xfrm>
            <a:off x="640080" y="2103120"/>
            <a:ext cx="5943600" cy="1737360"/>
          </a:xfrm>
          <a:prstGeom prst="rect">
            <a:avLst/>
          </a:prstGeom>
          <a:noFill/>
          <a:ln/>
        </p:spPr>
        <p:txBody>
          <a:bodyPr wrap="square" lIns="0" tIns="0" rIns="0" bIns="0" rtlCol="0" anchor="ctr"/>
          <a:lstStyle/>
          <a:p>
            <a:pPr marL="0" indent="0">
              <a:lnSpc>
                <a:spcPct val="135000"/>
              </a:lnSpc>
              <a:buNone/>
            </a:pPr>
            <a:r>
              <a:rPr lang="en-US" sz="1450" dirty="0">
                <a:solidFill>
                  <a:srgbClr val="1C1C28"/>
                </a:solidFill>
                <a:latin typeface="Calibri" pitchFamily="34" charset="0"/>
                <a:ea typeface="Calibri" pitchFamily="34" charset="-122"/>
                <a:cs typeface="Calibri" pitchFamily="34" charset="-120"/>
              </a:rPr>
              <a:t>Most plants run on reactive repair or fixed-schedule preventive maintenance — neither uses the early-warning signal already sitting inside the sensor data. The result: unplanned downtime, bigger repairs, and no data-driven way to decide which machine needs attention first.</a:t>
            </a:r>
            <a:endParaRPr lang="en-US" sz="1450" dirty="0"/>
          </a:p>
        </p:txBody>
      </p:sp>
      <p:sp>
        <p:nvSpPr>
          <p:cNvPr id="5" name="Shape 3"/>
          <p:cNvSpPr/>
          <p:nvPr/>
        </p:nvSpPr>
        <p:spPr>
          <a:xfrm>
            <a:off x="640080" y="3977640"/>
            <a:ext cx="310896" cy="310896"/>
          </a:xfrm>
          <a:prstGeom prst="ellipse">
            <a:avLst/>
          </a:prstGeom>
          <a:solidFill>
            <a:srgbClr val="B9BDC9"/>
          </a:solidFill>
          <a:ln/>
        </p:spPr>
      </p:sp>
      <p:sp>
        <p:nvSpPr>
          <p:cNvPr id="6" name="Text 4"/>
          <p:cNvSpPr/>
          <p:nvPr/>
        </p:nvSpPr>
        <p:spPr>
          <a:xfrm>
            <a:off x="640080" y="3977640"/>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43000" y="3941064"/>
            <a:ext cx="2743200" cy="365760"/>
          </a:xfrm>
          <a:prstGeom prst="rect">
            <a:avLst/>
          </a:prstGeom>
          <a:noFill/>
          <a:ln/>
        </p:spPr>
        <p:txBody>
          <a:bodyPr wrap="square" lIns="0" tIns="0" rIns="0" bIns="0" rtlCol="0" anchor="ctr"/>
          <a:lstStyle/>
          <a:p>
            <a:pPr marL="0" indent="0">
              <a:buNone/>
            </a:pPr>
            <a:r>
              <a:rPr lang="en-US" sz="1400" b="1" dirty="0">
                <a:solidFill>
                  <a:srgbClr val="1C1C28"/>
                </a:solidFill>
                <a:latin typeface="Calibri" pitchFamily="34" charset="0"/>
                <a:ea typeface="Calibri" pitchFamily="34" charset="-122"/>
                <a:cs typeface="Calibri" pitchFamily="34" charset="-120"/>
              </a:rPr>
              <a:t>Reactive</a:t>
            </a:r>
            <a:endParaRPr lang="en-US" sz="1400" dirty="0"/>
          </a:p>
        </p:txBody>
      </p:sp>
      <p:sp>
        <p:nvSpPr>
          <p:cNvPr id="8" name="Text 6"/>
          <p:cNvSpPr/>
          <p:nvPr/>
        </p:nvSpPr>
        <p:spPr>
          <a:xfrm>
            <a:off x="1143000" y="4270248"/>
            <a:ext cx="4572000" cy="457200"/>
          </a:xfrm>
          <a:prstGeom prst="rect">
            <a:avLst/>
          </a:prstGeom>
          <a:noFill/>
          <a:ln/>
        </p:spPr>
        <p:txBody>
          <a:bodyPr wrap="square" lIns="0" tIns="0" rIns="0" bIns="0" rtlCol="0" anchor="ctr"/>
          <a:lstStyle/>
          <a:p>
            <a:pPr marL="0" indent="0">
              <a:lnSpc>
                <a:spcPct val="115000"/>
              </a:lnSpc>
              <a:buNone/>
            </a:pPr>
            <a:r>
              <a:rPr lang="en-US" sz="1150" dirty="0">
                <a:solidFill>
                  <a:srgbClr val="6B6F85"/>
                </a:solidFill>
                <a:latin typeface="Calibri" pitchFamily="34" charset="0"/>
                <a:ea typeface="Calibri" pitchFamily="34" charset="-122"/>
                <a:cs typeface="Calibri" pitchFamily="34" charset="-120"/>
              </a:rPr>
              <a:t>Fix after it fails — costliest and least predictable</a:t>
            </a:r>
            <a:endParaRPr lang="en-US" sz="1150" dirty="0"/>
          </a:p>
        </p:txBody>
      </p:sp>
      <p:sp>
        <p:nvSpPr>
          <p:cNvPr id="9" name="Shape 7"/>
          <p:cNvSpPr/>
          <p:nvPr/>
        </p:nvSpPr>
        <p:spPr>
          <a:xfrm>
            <a:off x="640080" y="4818888"/>
            <a:ext cx="310896" cy="310896"/>
          </a:xfrm>
          <a:prstGeom prst="ellipse">
            <a:avLst/>
          </a:prstGeom>
          <a:solidFill>
            <a:srgbClr val="B9BDC9"/>
          </a:solidFill>
          <a:ln/>
        </p:spPr>
      </p:sp>
      <p:sp>
        <p:nvSpPr>
          <p:cNvPr id="10" name="Text 8"/>
          <p:cNvSpPr/>
          <p:nvPr/>
        </p:nvSpPr>
        <p:spPr>
          <a:xfrm>
            <a:off x="640080" y="4818888"/>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143000" y="4782312"/>
            <a:ext cx="2743200" cy="365760"/>
          </a:xfrm>
          <a:prstGeom prst="rect">
            <a:avLst/>
          </a:prstGeom>
          <a:noFill/>
          <a:ln/>
        </p:spPr>
        <p:txBody>
          <a:bodyPr wrap="square" lIns="0" tIns="0" rIns="0" bIns="0" rtlCol="0" anchor="ctr"/>
          <a:lstStyle/>
          <a:p>
            <a:pPr marL="0" indent="0">
              <a:buNone/>
            </a:pPr>
            <a:r>
              <a:rPr lang="en-US" sz="1400" b="1" dirty="0">
                <a:solidFill>
                  <a:srgbClr val="1C1C28"/>
                </a:solidFill>
                <a:latin typeface="Calibri" pitchFamily="34" charset="0"/>
                <a:ea typeface="Calibri" pitchFamily="34" charset="-122"/>
                <a:cs typeface="Calibri" pitchFamily="34" charset="-120"/>
              </a:rPr>
              <a:t>Preventive</a:t>
            </a:r>
            <a:endParaRPr lang="en-US" sz="1400" dirty="0"/>
          </a:p>
        </p:txBody>
      </p:sp>
      <p:sp>
        <p:nvSpPr>
          <p:cNvPr id="12" name="Text 10"/>
          <p:cNvSpPr/>
          <p:nvPr/>
        </p:nvSpPr>
        <p:spPr>
          <a:xfrm>
            <a:off x="1143000" y="5111496"/>
            <a:ext cx="4572000" cy="457200"/>
          </a:xfrm>
          <a:prstGeom prst="rect">
            <a:avLst/>
          </a:prstGeom>
          <a:noFill/>
          <a:ln/>
        </p:spPr>
        <p:txBody>
          <a:bodyPr wrap="square" lIns="0" tIns="0" rIns="0" bIns="0" rtlCol="0" anchor="ctr"/>
          <a:lstStyle/>
          <a:p>
            <a:pPr marL="0" indent="0">
              <a:lnSpc>
                <a:spcPct val="115000"/>
              </a:lnSpc>
              <a:buNone/>
            </a:pPr>
            <a:r>
              <a:rPr lang="en-US" sz="1150" dirty="0">
                <a:solidFill>
                  <a:srgbClr val="6B6F85"/>
                </a:solidFill>
                <a:latin typeface="Calibri" pitchFamily="34" charset="0"/>
                <a:ea typeface="Calibri" pitchFamily="34" charset="-122"/>
                <a:cs typeface="Calibri" pitchFamily="34" charset="-120"/>
              </a:rPr>
              <a:t>Fixed calendar schedule — services healthy machines, misses at-risk ones</a:t>
            </a:r>
            <a:endParaRPr lang="en-US" sz="1150" dirty="0"/>
          </a:p>
        </p:txBody>
      </p:sp>
      <p:sp>
        <p:nvSpPr>
          <p:cNvPr id="13" name="Shape 11"/>
          <p:cNvSpPr/>
          <p:nvPr/>
        </p:nvSpPr>
        <p:spPr>
          <a:xfrm>
            <a:off x="640080" y="5660136"/>
            <a:ext cx="310896" cy="310896"/>
          </a:xfrm>
          <a:prstGeom prst="ellipse">
            <a:avLst/>
          </a:prstGeom>
          <a:solidFill>
            <a:srgbClr val="02C39A"/>
          </a:solidFill>
          <a:ln/>
        </p:spPr>
      </p:sp>
      <p:sp>
        <p:nvSpPr>
          <p:cNvPr id="14" name="Text 12"/>
          <p:cNvSpPr/>
          <p:nvPr/>
        </p:nvSpPr>
        <p:spPr>
          <a:xfrm>
            <a:off x="640080" y="5660136"/>
            <a:ext cx="310896" cy="310896"/>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143000" y="5623560"/>
            <a:ext cx="2743200" cy="365760"/>
          </a:xfrm>
          <a:prstGeom prst="rect">
            <a:avLst/>
          </a:prstGeom>
          <a:noFill/>
          <a:ln/>
        </p:spPr>
        <p:txBody>
          <a:bodyPr wrap="square" lIns="0" tIns="0" rIns="0" bIns="0" rtlCol="0" anchor="ctr"/>
          <a:lstStyle/>
          <a:p>
            <a:pPr marL="0" indent="0">
              <a:buNone/>
            </a:pPr>
            <a:r>
              <a:rPr lang="en-US" sz="1400" b="1" dirty="0">
                <a:solidFill>
                  <a:srgbClr val="1C1C28"/>
                </a:solidFill>
                <a:latin typeface="Calibri" pitchFamily="34" charset="0"/>
                <a:ea typeface="Calibri" pitchFamily="34" charset="-122"/>
                <a:cs typeface="Calibri" pitchFamily="34" charset="-120"/>
              </a:rPr>
              <a:t>Predictive (this PoC)</a:t>
            </a:r>
            <a:endParaRPr lang="en-US" sz="1400" dirty="0"/>
          </a:p>
        </p:txBody>
      </p:sp>
      <p:sp>
        <p:nvSpPr>
          <p:cNvPr id="16" name="Text 14"/>
          <p:cNvSpPr/>
          <p:nvPr/>
        </p:nvSpPr>
        <p:spPr>
          <a:xfrm>
            <a:off x="1143000" y="5952744"/>
            <a:ext cx="4572000" cy="457200"/>
          </a:xfrm>
          <a:prstGeom prst="rect">
            <a:avLst/>
          </a:prstGeom>
          <a:noFill/>
          <a:ln/>
        </p:spPr>
        <p:txBody>
          <a:bodyPr wrap="square" lIns="0" tIns="0" rIns="0" bIns="0" rtlCol="0" anchor="ctr"/>
          <a:lstStyle/>
          <a:p>
            <a:pPr marL="0" indent="0">
              <a:lnSpc>
                <a:spcPct val="115000"/>
              </a:lnSpc>
              <a:buNone/>
            </a:pPr>
            <a:r>
              <a:rPr lang="en-US" sz="1150" dirty="0">
                <a:solidFill>
                  <a:srgbClr val="6B6F85"/>
                </a:solidFill>
                <a:latin typeface="Calibri" pitchFamily="34" charset="0"/>
                <a:ea typeface="Calibri" pitchFamily="34" charset="-122"/>
                <a:cs typeface="Calibri" pitchFamily="34" charset="-120"/>
              </a:rPr>
              <a:t>Detects early warning signs, with real backtested lead time</a:t>
            </a:r>
            <a:endParaRPr lang="en-US" sz="1150" dirty="0"/>
          </a:p>
        </p:txBody>
      </p:sp>
      <p:sp>
        <p:nvSpPr>
          <p:cNvPr id="17" name="Shape 15"/>
          <p:cNvSpPr/>
          <p:nvPr/>
        </p:nvSpPr>
        <p:spPr>
          <a:xfrm>
            <a:off x="7086600" y="822960"/>
            <a:ext cx="4480560" cy="5212080"/>
          </a:xfrm>
          <a:prstGeom prst="roundRect">
            <a:avLst>
              <a:gd name="adj" fmla="val 2449"/>
            </a:avLst>
          </a:prstGeom>
          <a:solidFill>
            <a:srgbClr val="1E2761"/>
          </a:solidFill>
          <a:ln/>
        </p:spPr>
      </p:sp>
      <p:sp>
        <p:nvSpPr>
          <p:cNvPr id="18" name="Text 16"/>
          <p:cNvSpPr/>
          <p:nvPr/>
        </p:nvSpPr>
        <p:spPr>
          <a:xfrm>
            <a:off x="7269480" y="1097280"/>
            <a:ext cx="4114800" cy="82296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100</a:t>
            </a:r>
            <a:endParaRPr lang="en-US" sz="4600" dirty="0"/>
          </a:p>
        </p:txBody>
      </p:sp>
      <p:sp>
        <p:nvSpPr>
          <p:cNvPr id="19" name="Text 17"/>
          <p:cNvSpPr/>
          <p:nvPr/>
        </p:nvSpPr>
        <p:spPr>
          <a:xfrm>
            <a:off x="7269480" y="1783080"/>
            <a:ext cx="4023360" cy="548640"/>
          </a:xfrm>
          <a:prstGeom prst="rect">
            <a:avLst/>
          </a:prstGeom>
          <a:noFill/>
          <a:ln/>
        </p:spPr>
        <p:txBody>
          <a:bodyPr wrap="square" lIns="0" tIns="0" rIns="0" bIns="0" rtlCol="0" anchor="ctr"/>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real industrial machines in the benchmark dataset</a:t>
            </a:r>
            <a:endParaRPr lang="en-US" sz="1200" dirty="0"/>
          </a:p>
        </p:txBody>
      </p:sp>
      <p:sp>
        <p:nvSpPr>
          <p:cNvPr id="20" name="Shape 18"/>
          <p:cNvSpPr/>
          <p:nvPr/>
        </p:nvSpPr>
        <p:spPr>
          <a:xfrm>
            <a:off x="7269480" y="2514600"/>
            <a:ext cx="3931920" cy="0"/>
          </a:xfrm>
          <a:prstGeom prst="line">
            <a:avLst/>
          </a:prstGeom>
          <a:noFill/>
          <a:ln w="12700">
            <a:solidFill>
              <a:srgbClr val="3A4590"/>
            </a:solidFill>
            <a:prstDash val="solid"/>
          </a:ln>
        </p:spPr>
      </p:sp>
      <p:sp>
        <p:nvSpPr>
          <p:cNvPr id="21" name="Text 19"/>
          <p:cNvSpPr/>
          <p:nvPr/>
        </p:nvSpPr>
        <p:spPr>
          <a:xfrm>
            <a:off x="7269480" y="2697480"/>
            <a:ext cx="4114800" cy="82296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761</a:t>
            </a:r>
            <a:endParaRPr lang="en-US" sz="4600" dirty="0"/>
          </a:p>
        </p:txBody>
      </p:sp>
      <p:sp>
        <p:nvSpPr>
          <p:cNvPr id="22" name="Text 20"/>
          <p:cNvSpPr/>
          <p:nvPr/>
        </p:nvSpPr>
        <p:spPr>
          <a:xfrm>
            <a:off x="7269480" y="3383280"/>
            <a:ext cx="4023360" cy="548640"/>
          </a:xfrm>
          <a:prstGeom prst="rect">
            <a:avLst/>
          </a:prstGeom>
          <a:noFill/>
          <a:ln/>
        </p:spPr>
        <p:txBody>
          <a:bodyPr wrap="square" lIns="0" tIns="0" rIns="0" bIns="0" rtlCol="0" anchor="ctr"/>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real recorded failure events used for validation</a:t>
            </a:r>
            <a:endParaRPr lang="en-US" sz="1200" dirty="0"/>
          </a:p>
        </p:txBody>
      </p:sp>
      <p:sp>
        <p:nvSpPr>
          <p:cNvPr id="23" name="Shape 21"/>
          <p:cNvSpPr/>
          <p:nvPr/>
        </p:nvSpPr>
        <p:spPr>
          <a:xfrm>
            <a:off x="7269480" y="4114800"/>
            <a:ext cx="3931920" cy="0"/>
          </a:xfrm>
          <a:prstGeom prst="line">
            <a:avLst/>
          </a:prstGeom>
          <a:noFill/>
          <a:ln w="12700">
            <a:solidFill>
              <a:srgbClr val="3A4590"/>
            </a:solidFill>
            <a:prstDash val="solid"/>
          </a:ln>
        </p:spPr>
      </p:sp>
      <p:sp>
        <p:nvSpPr>
          <p:cNvPr id="24" name="Text 22"/>
          <p:cNvSpPr/>
          <p:nvPr/>
        </p:nvSpPr>
        <p:spPr>
          <a:xfrm>
            <a:off x="7269480" y="4297680"/>
            <a:ext cx="4114800" cy="822960"/>
          </a:xfrm>
          <a:prstGeom prst="rect">
            <a:avLst/>
          </a:prstGeom>
          <a:noFill/>
          <a:ln/>
        </p:spPr>
        <p:txBody>
          <a:bodyPr wrap="square" lIns="0" tIns="0" rIns="0" bIns="0" rtlCol="0" anchor="ctr"/>
          <a:lstStyle/>
          <a:p>
            <a:pPr marL="0" indent="0">
              <a:buNone/>
            </a:pPr>
            <a:r>
              <a:rPr lang="en-US" sz="4600" b="1" dirty="0">
                <a:solidFill>
                  <a:srgbClr val="02C39A"/>
                </a:solidFill>
                <a:latin typeface="Cambria" pitchFamily="34" charset="0"/>
                <a:ea typeface="Cambria" pitchFamily="34" charset="-122"/>
                <a:cs typeface="Cambria" pitchFamily="34" charset="-120"/>
              </a:rPr>
              <a:t>0</a:t>
            </a:r>
            <a:endParaRPr lang="en-US" sz="4600" dirty="0"/>
          </a:p>
        </p:txBody>
      </p:sp>
      <p:sp>
        <p:nvSpPr>
          <p:cNvPr id="25" name="Text 23"/>
          <p:cNvSpPr/>
          <p:nvPr/>
        </p:nvSpPr>
        <p:spPr>
          <a:xfrm>
            <a:off x="7269480" y="4983480"/>
            <a:ext cx="4023360" cy="640080"/>
          </a:xfrm>
          <a:prstGeom prst="rect">
            <a:avLst/>
          </a:prstGeom>
          <a:noFill/>
          <a:ln/>
        </p:spPr>
        <p:txBody>
          <a:bodyPr wrap="square" lIns="0" tIns="0" rIns="0" bIns="0" rtlCol="0" anchor="ctr"/>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simulated or invented data points anywhere in the pipeline</a:t>
            </a:r>
            <a:endParaRPr lang="en-US" sz="1200" dirty="0"/>
          </a:p>
        </p:txBody>
      </p:sp>
      <p:sp>
        <p:nvSpPr>
          <p:cNvPr id="26" name="Text 24"/>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6B6F85"/>
                </a:solidFill>
                <a:latin typeface="Calibri" pitchFamily="34" charset="0"/>
                <a:ea typeface="Calibri" pitchFamily="34" charset="-122"/>
                <a:cs typeface="Calibri" pitchFamily="34" charset="-120"/>
              </a:rPr>
              <a:t>Agentic AI Predictive Maintenance</a:t>
            </a:r>
            <a:endParaRPr lang="en-US" sz="1000" dirty="0"/>
          </a:p>
        </p:txBody>
      </p:sp>
      <p:sp>
        <p:nvSpPr>
          <p:cNvPr id="27" name="Text 2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6F8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buNone/>
            </a:pPr>
            <a:r>
              <a:rPr lang="en-US" sz="1200" b="1" kern="0" spc="100" dirty="0">
                <a:solidFill>
                  <a:srgbClr val="02C39A"/>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640080" y="777240"/>
            <a:ext cx="10515600" cy="640080"/>
          </a:xfrm>
          <a:prstGeom prst="rect">
            <a:avLst/>
          </a:prstGeom>
          <a:noFill/>
          <a:ln/>
        </p:spPr>
        <p:txBody>
          <a:bodyPr wrap="square" lIns="0" tIns="0" rIns="0" bIns="0" rtlCol="0" anchor="ctr"/>
          <a:lstStyle/>
          <a:p>
            <a:pPr marL="0" indent="0">
              <a:buNone/>
            </a:pPr>
            <a:r>
              <a:rPr lang="en-US" sz="2600" b="1" dirty="0">
                <a:solidFill>
                  <a:srgbClr val="1C1C28"/>
                </a:solidFill>
                <a:latin typeface="Cambria" pitchFamily="34" charset="0"/>
                <a:ea typeface="Cambria" pitchFamily="34" charset="-122"/>
                <a:cs typeface="Cambria" pitchFamily="34" charset="-120"/>
              </a:rPr>
              <a:t>Predict. Investigate. Diagnose. Recommend. Decide.</a:t>
            </a:r>
            <a:endParaRPr lang="en-US" sz="2600" dirty="0"/>
          </a:p>
        </p:txBody>
      </p:sp>
      <p:sp>
        <p:nvSpPr>
          <p:cNvPr id="4" name="Text 2"/>
          <p:cNvSpPr/>
          <p:nvPr/>
        </p:nvSpPr>
        <p:spPr>
          <a:xfrm>
            <a:off x="640080" y="1417320"/>
            <a:ext cx="10607040" cy="731520"/>
          </a:xfrm>
          <a:prstGeom prst="rect">
            <a:avLst/>
          </a:prstGeom>
          <a:noFill/>
          <a:ln/>
        </p:spPr>
        <p:txBody>
          <a:bodyPr wrap="square" lIns="0" tIns="0" rIns="0" bIns="0" rtlCol="0" anchor="ctr"/>
          <a:lstStyle/>
          <a:p>
            <a:pPr marL="0" indent="0">
              <a:lnSpc>
                <a:spcPct val="130000"/>
              </a:lnSpc>
              <a:buNone/>
            </a:pPr>
            <a:r>
              <a:rPr lang="en-US" sz="1350" dirty="0">
                <a:solidFill>
                  <a:srgbClr val="6B6F85"/>
                </a:solidFill>
                <a:latin typeface="Calibri" pitchFamily="34" charset="0"/>
                <a:ea typeface="Calibri" pitchFamily="34" charset="-122"/>
                <a:cs typeface="Calibri" pitchFamily="34" charset="-120"/>
              </a:rPr>
              <a:t>A multi-agent AI system that monitors machine health, retrieves similar real historical failures as evidence, explains its diagnosis in plain language, recommends an action grounded in real repair history, and knows when to trust itself versus ask an engineer.</a:t>
            </a:r>
            <a:endParaRPr lang="en-US" sz="1350" dirty="0"/>
          </a:p>
        </p:txBody>
      </p:sp>
      <p:sp>
        <p:nvSpPr>
          <p:cNvPr id="5" name="Shape 3"/>
          <p:cNvSpPr/>
          <p:nvPr/>
        </p:nvSpPr>
        <p:spPr>
          <a:xfrm>
            <a:off x="640080" y="2606040"/>
            <a:ext cx="1481328" cy="2286000"/>
          </a:xfrm>
          <a:prstGeom prst="roundRect">
            <a:avLst>
              <a:gd name="adj" fmla="val 6173"/>
            </a:avLst>
          </a:prstGeom>
          <a:solidFill>
            <a:srgbClr val="1E2761"/>
          </a:solidFill>
          <a:ln/>
        </p:spPr>
      </p:sp>
      <p:sp>
        <p:nvSpPr>
          <p:cNvPr id="6" name="Shape 4"/>
          <p:cNvSpPr/>
          <p:nvPr/>
        </p:nvSpPr>
        <p:spPr>
          <a:xfrm>
            <a:off x="1207008" y="2807208"/>
            <a:ext cx="347472" cy="347472"/>
          </a:xfrm>
          <a:prstGeom prst="ellipse">
            <a:avLst/>
          </a:prstGeom>
          <a:solidFill>
            <a:srgbClr val="FFFFFF"/>
          </a:solidFill>
          <a:ln/>
        </p:spPr>
      </p:sp>
      <p:sp>
        <p:nvSpPr>
          <p:cNvPr id="7" name="Text 5"/>
          <p:cNvSpPr/>
          <p:nvPr/>
        </p:nvSpPr>
        <p:spPr>
          <a:xfrm>
            <a:off x="1207008" y="2807208"/>
            <a:ext cx="347472" cy="347472"/>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713232" y="3383280"/>
            <a:ext cx="1335024" cy="50292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Predict</a:t>
            </a:r>
            <a:endParaRPr lang="en-US" sz="1350" dirty="0"/>
          </a:p>
        </p:txBody>
      </p:sp>
      <p:sp>
        <p:nvSpPr>
          <p:cNvPr id="9" name="Text 7"/>
          <p:cNvSpPr/>
          <p:nvPr/>
        </p:nvSpPr>
        <p:spPr>
          <a:xfrm>
            <a:off x="713232" y="3904488"/>
            <a:ext cx="1335024" cy="914400"/>
          </a:xfrm>
          <a:prstGeom prst="rect">
            <a:avLst/>
          </a:prstGeom>
          <a:noFill/>
          <a:ln/>
        </p:spPr>
        <p:txBody>
          <a:bodyPr wrap="square" lIns="0" tIns="0" rIns="0" bIns="0" rtlCol="0" anchor="ctr"/>
          <a:lstStyle/>
          <a:p>
            <a:pPr marL="0" indent="0" algn="ctr">
              <a:lnSpc>
                <a:spcPct val="120000"/>
              </a:lnSpc>
              <a:buNone/>
            </a:pPr>
            <a:r>
              <a:rPr lang="en-US" sz="1000" dirty="0">
                <a:solidFill>
                  <a:srgbClr val="CADCFC"/>
                </a:solidFill>
                <a:latin typeface="Calibri" pitchFamily="34" charset="0"/>
                <a:ea typeface="Calibri" pitchFamily="34" charset="-122"/>
                <a:cs typeface="Calibri" pitchFamily="34" charset="-120"/>
              </a:rPr>
              <a:t>Which machine is at risk?</a:t>
            </a:r>
            <a:endParaRPr lang="en-US" sz="1000" dirty="0"/>
          </a:p>
        </p:txBody>
      </p:sp>
      <p:sp>
        <p:nvSpPr>
          <p:cNvPr id="10" name="Text 8"/>
          <p:cNvSpPr/>
          <p:nvPr/>
        </p:nvSpPr>
        <p:spPr>
          <a:xfrm>
            <a:off x="2125980" y="3547872"/>
            <a:ext cx="82296" cy="402336"/>
          </a:xfrm>
          <a:prstGeom prst="rect">
            <a:avLst/>
          </a:prstGeom>
          <a:noFill/>
          <a:ln/>
        </p:spPr>
        <p:txBody>
          <a:bodyPr wrap="square" lIns="0" tIns="0" rIns="0" bIns="0" rtlCol="0" anchor="ctr"/>
          <a:lstStyle/>
          <a:p>
            <a:pPr marL="0" indent="0" algn="ctr">
              <a:buNone/>
            </a:pPr>
            <a:r>
              <a:rPr lang="en-US" sz="1600" b="1" dirty="0">
                <a:solidFill>
                  <a:srgbClr val="B9BDC9"/>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212848" y="2606040"/>
            <a:ext cx="1481328" cy="2286000"/>
          </a:xfrm>
          <a:prstGeom prst="roundRect">
            <a:avLst>
              <a:gd name="adj" fmla="val 6173"/>
            </a:avLst>
          </a:prstGeom>
          <a:solidFill>
            <a:srgbClr val="334198"/>
          </a:solidFill>
          <a:ln/>
        </p:spPr>
      </p:sp>
      <p:sp>
        <p:nvSpPr>
          <p:cNvPr id="12" name="Shape 10"/>
          <p:cNvSpPr/>
          <p:nvPr/>
        </p:nvSpPr>
        <p:spPr>
          <a:xfrm>
            <a:off x="2779776" y="2807208"/>
            <a:ext cx="347472" cy="347472"/>
          </a:xfrm>
          <a:prstGeom prst="ellipse">
            <a:avLst/>
          </a:prstGeom>
          <a:solidFill>
            <a:srgbClr val="FFFFFF"/>
          </a:solidFill>
          <a:ln/>
        </p:spPr>
      </p:sp>
      <p:sp>
        <p:nvSpPr>
          <p:cNvPr id="13" name="Text 11"/>
          <p:cNvSpPr/>
          <p:nvPr/>
        </p:nvSpPr>
        <p:spPr>
          <a:xfrm>
            <a:off x="2779776" y="2807208"/>
            <a:ext cx="347472" cy="347472"/>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2286000" y="3383280"/>
            <a:ext cx="1335024" cy="50292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Investigate</a:t>
            </a:r>
            <a:endParaRPr lang="en-US" sz="1350" dirty="0"/>
          </a:p>
        </p:txBody>
      </p:sp>
      <p:sp>
        <p:nvSpPr>
          <p:cNvPr id="15" name="Text 13"/>
          <p:cNvSpPr/>
          <p:nvPr/>
        </p:nvSpPr>
        <p:spPr>
          <a:xfrm>
            <a:off x="2286000" y="3904488"/>
            <a:ext cx="1335024" cy="914400"/>
          </a:xfrm>
          <a:prstGeom prst="rect">
            <a:avLst/>
          </a:prstGeom>
          <a:noFill/>
          <a:ln/>
        </p:spPr>
        <p:txBody>
          <a:bodyPr wrap="square" lIns="0" tIns="0" rIns="0" bIns="0" rtlCol="0" anchor="ctr"/>
          <a:lstStyle/>
          <a:p>
            <a:pPr marL="0" indent="0" algn="ctr">
              <a:lnSpc>
                <a:spcPct val="120000"/>
              </a:lnSpc>
              <a:buNone/>
            </a:pPr>
            <a:r>
              <a:rPr lang="en-US" sz="1000" dirty="0">
                <a:solidFill>
                  <a:srgbClr val="CADCFC"/>
                </a:solidFill>
                <a:latin typeface="Calibri" pitchFamily="34" charset="0"/>
                <a:ea typeface="Calibri" pitchFamily="34" charset="-122"/>
                <a:cs typeface="Calibri" pitchFamily="34" charset="-120"/>
              </a:rPr>
              <a:t>Sensor &amp; error signatures</a:t>
            </a:r>
            <a:endParaRPr lang="en-US" sz="1000" dirty="0"/>
          </a:p>
        </p:txBody>
      </p:sp>
      <p:sp>
        <p:nvSpPr>
          <p:cNvPr id="16" name="Text 14"/>
          <p:cNvSpPr/>
          <p:nvPr/>
        </p:nvSpPr>
        <p:spPr>
          <a:xfrm>
            <a:off x="3698748" y="3547872"/>
            <a:ext cx="82296" cy="402336"/>
          </a:xfrm>
          <a:prstGeom prst="rect">
            <a:avLst/>
          </a:prstGeom>
          <a:noFill/>
          <a:ln/>
        </p:spPr>
        <p:txBody>
          <a:bodyPr wrap="square" lIns="0" tIns="0" rIns="0" bIns="0" rtlCol="0" anchor="ctr"/>
          <a:lstStyle/>
          <a:p>
            <a:pPr marL="0" indent="0" algn="ctr">
              <a:buNone/>
            </a:pPr>
            <a:r>
              <a:rPr lang="en-US" sz="1600" b="1" dirty="0">
                <a:solidFill>
                  <a:srgbClr val="B9BDC9"/>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3785616" y="2606040"/>
            <a:ext cx="1481328" cy="2286000"/>
          </a:xfrm>
          <a:prstGeom prst="roundRect">
            <a:avLst>
              <a:gd name="adj" fmla="val 6173"/>
            </a:avLst>
          </a:prstGeom>
          <a:solidFill>
            <a:srgbClr val="1E2761"/>
          </a:solidFill>
          <a:ln/>
        </p:spPr>
      </p:sp>
      <p:sp>
        <p:nvSpPr>
          <p:cNvPr id="18" name="Shape 16"/>
          <p:cNvSpPr/>
          <p:nvPr/>
        </p:nvSpPr>
        <p:spPr>
          <a:xfrm>
            <a:off x="4352544" y="2807208"/>
            <a:ext cx="347472" cy="347472"/>
          </a:xfrm>
          <a:prstGeom prst="ellipse">
            <a:avLst/>
          </a:prstGeom>
          <a:solidFill>
            <a:srgbClr val="FFFFFF"/>
          </a:solidFill>
          <a:ln/>
        </p:spPr>
      </p:sp>
      <p:sp>
        <p:nvSpPr>
          <p:cNvPr id="19" name="Text 17"/>
          <p:cNvSpPr/>
          <p:nvPr/>
        </p:nvSpPr>
        <p:spPr>
          <a:xfrm>
            <a:off x="4352544" y="2807208"/>
            <a:ext cx="347472" cy="347472"/>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3858768" y="3383280"/>
            <a:ext cx="1335024" cy="50292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Correlate</a:t>
            </a:r>
            <a:endParaRPr lang="en-US" sz="1350" dirty="0"/>
          </a:p>
        </p:txBody>
      </p:sp>
      <p:sp>
        <p:nvSpPr>
          <p:cNvPr id="21" name="Text 19"/>
          <p:cNvSpPr/>
          <p:nvPr/>
        </p:nvSpPr>
        <p:spPr>
          <a:xfrm>
            <a:off x="3858768" y="3904488"/>
            <a:ext cx="1335024" cy="914400"/>
          </a:xfrm>
          <a:prstGeom prst="rect">
            <a:avLst/>
          </a:prstGeom>
          <a:noFill/>
          <a:ln/>
        </p:spPr>
        <p:txBody>
          <a:bodyPr wrap="square" lIns="0" tIns="0" rIns="0" bIns="0" rtlCol="0" anchor="ctr"/>
          <a:lstStyle/>
          <a:p>
            <a:pPr marL="0" indent="0" algn="ctr">
              <a:lnSpc>
                <a:spcPct val="120000"/>
              </a:lnSpc>
              <a:buNone/>
            </a:pPr>
            <a:r>
              <a:rPr lang="en-US" sz="1000" dirty="0">
                <a:solidFill>
                  <a:srgbClr val="CADCFC"/>
                </a:solidFill>
                <a:latin typeface="Calibri" pitchFamily="34" charset="0"/>
                <a:ea typeface="Calibri" pitchFamily="34" charset="-122"/>
                <a:cs typeface="Calibri" pitchFamily="34" charset="-120"/>
              </a:rPr>
              <a:t>Similar past failures (RAG)</a:t>
            </a:r>
            <a:endParaRPr lang="en-US" sz="1000" dirty="0"/>
          </a:p>
        </p:txBody>
      </p:sp>
      <p:sp>
        <p:nvSpPr>
          <p:cNvPr id="22" name="Text 20"/>
          <p:cNvSpPr/>
          <p:nvPr/>
        </p:nvSpPr>
        <p:spPr>
          <a:xfrm>
            <a:off x="5271516" y="3547872"/>
            <a:ext cx="82296" cy="402336"/>
          </a:xfrm>
          <a:prstGeom prst="rect">
            <a:avLst/>
          </a:prstGeom>
          <a:noFill/>
          <a:ln/>
        </p:spPr>
        <p:txBody>
          <a:bodyPr wrap="square" lIns="0" tIns="0" rIns="0" bIns="0" rtlCol="0" anchor="ctr"/>
          <a:lstStyle/>
          <a:p>
            <a:pPr marL="0" indent="0" algn="ctr">
              <a:buNone/>
            </a:pPr>
            <a:r>
              <a:rPr lang="en-US" sz="1600" b="1" dirty="0">
                <a:solidFill>
                  <a:srgbClr val="B9BDC9"/>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5358384" y="2606040"/>
            <a:ext cx="1481328" cy="2286000"/>
          </a:xfrm>
          <a:prstGeom prst="roundRect">
            <a:avLst>
              <a:gd name="adj" fmla="val 6173"/>
            </a:avLst>
          </a:prstGeom>
          <a:solidFill>
            <a:srgbClr val="334198"/>
          </a:solidFill>
          <a:ln/>
        </p:spPr>
      </p:sp>
      <p:sp>
        <p:nvSpPr>
          <p:cNvPr id="24" name="Shape 22"/>
          <p:cNvSpPr/>
          <p:nvPr/>
        </p:nvSpPr>
        <p:spPr>
          <a:xfrm>
            <a:off x="5925312" y="2807208"/>
            <a:ext cx="347472" cy="347472"/>
          </a:xfrm>
          <a:prstGeom prst="ellipse">
            <a:avLst/>
          </a:prstGeom>
          <a:solidFill>
            <a:srgbClr val="FFFFFF"/>
          </a:solidFill>
          <a:ln/>
        </p:spPr>
      </p:sp>
      <p:sp>
        <p:nvSpPr>
          <p:cNvPr id="25" name="Text 23"/>
          <p:cNvSpPr/>
          <p:nvPr/>
        </p:nvSpPr>
        <p:spPr>
          <a:xfrm>
            <a:off x="5925312" y="2807208"/>
            <a:ext cx="347472" cy="347472"/>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4</a:t>
            </a:r>
            <a:endParaRPr lang="en-US" sz="1400" dirty="0"/>
          </a:p>
        </p:txBody>
      </p:sp>
      <p:sp>
        <p:nvSpPr>
          <p:cNvPr id="26" name="Text 24"/>
          <p:cNvSpPr/>
          <p:nvPr/>
        </p:nvSpPr>
        <p:spPr>
          <a:xfrm>
            <a:off x="5431536" y="3383280"/>
            <a:ext cx="1335024" cy="50292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Diagnose</a:t>
            </a:r>
            <a:endParaRPr lang="en-US" sz="1350" dirty="0"/>
          </a:p>
        </p:txBody>
      </p:sp>
      <p:sp>
        <p:nvSpPr>
          <p:cNvPr id="27" name="Text 25"/>
          <p:cNvSpPr/>
          <p:nvPr/>
        </p:nvSpPr>
        <p:spPr>
          <a:xfrm>
            <a:off x="5431536" y="3904488"/>
            <a:ext cx="1335024" cy="914400"/>
          </a:xfrm>
          <a:prstGeom prst="rect">
            <a:avLst/>
          </a:prstGeom>
          <a:noFill/>
          <a:ln/>
        </p:spPr>
        <p:txBody>
          <a:bodyPr wrap="square" lIns="0" tIns="0" rIns="0" bIns="0" rtlCol="0" anchor="ctr"/>
          <a:lstStyle/>
          <a:p>
            <a:pPr marL="0" indent="0" algn="ctr">
              <a:lnSpc>
                <a:spcPct val="120000"/>
              </a:lnSpc>
              <a:buNone/>
            </a:pPr>
            <a:r>
              <a:rPr lang="en-US" sz="1000" dirty="0">
                <a:solidFill>
                  <a:srgbClr val="CADCFC"/>
                </a:solidFill>
                <a:latin typeface="Calibri" pitchFamily="34" charset="0"/>
                <a:ea typeface="Calibri" pitchFamily="34" charset="-122"/>
                <a:cs typeface="Calibri" pitchFamily="34" charset="-120"/>
              </a:rPr>
              <a:t>Likely component + evidence</a:t>
            </a:r>
            <a:endParaRPr lang="en-US" sz="1000" dirty="0"/>
          </a:p>
        </p:txBody>
      </p:sp>
      <p:sp>
        <p:nvSpPr>
          <p:cNvPr id="28" name="Text 26"/>
          <p:cNvSpPr/>
          <p:nvPr/>
        </p:nvSpPr>
        <p:spPr>
          <a:xfrm>
            <a:off x="6844284" y="3547872"/>
            <a:ext cx="82296" cy="402336"/>
          </a:xfrm>
          <a:prstGeom prst="rect">
            <a:avLst/>
          </a:prstGeom>
          <a:noFill/>
          <a:ln/>
        </p:spPr>
        <p:txBody>
          <a:bodyPr wrap="square" lIns="0" tIns="0" rIns="0" bIns="0" rtlCol="0" anchor="ctr"/>
          <a:lstStyle/>
          <a:p>
            <a:pPr marL="0" indent="0" algn="ctr">
              <a:buNone/>
            </a:pPr>
            <a:r>
              <a:rPr lang="en-US" sz="1600" b="1" dirty="0">
                <a:solidFill>
                  <a:srgbClr val="B9BDC9"/>
                </a:solidFill>
                <a:latin typeface="Calibri" pitchFamily="34" charset="0"/>
                <a:ea typeface="Calibri" pitchFamily="34" charset="-122"/>
                <a:cs typeface="Calibri" pitchFamily="34" charset="-120"/>
              </a:rPr>
              <a:t>›</a:t>
            </a:r>
            <a:endParaRPr lang="en-US" sz="1600" dirty="0"/>
          </a:p>
        </p:txBody>
      </p:sp>
      <p:sp>
        <p:nvSpPr>
          <p:cNvPr id="29" name="Shape 27"/>
          <p:cNvSpPr/>
          <p:nvPr/>
        </p:nvSpPr>
        <p:spPr>
          <a:xfrm>
            <a:off x="6931152" y="2606040"/>
            <a:ext cx="1481328" cy="2286000"/>
          </a:xfrm>
          <a:prstGeom prst="roundRect">
            <a:avLst>
              <a:gd name="adj" fmla="val 6173"/>
            </a:avLst>
          </a:prstGeom>
          <a:solidFill>
            <a:srgbClr val="1E2761"/>
          </a:solidFill>
          <a:ln/>
        </p:spPr>
      </p:sp>
      <p:sp>
        <p:nvSpPr>
          <p:cNvPr id="30" name="Shape 28"/>
          <p:cNvSpPr/>
          <p:nvPr/>
        </p:nvSpPr>
        <p:spPr>
          <a:xfrm>
            <a:off x="7498080" y="2807208"/>
            <a:ext cx="347472" cy="347472"/>
          </a:xfrm>
          <a:prstGeom prst="ellipse">
            <a:avLst/>
          </a:prstGeom>
          <a:solidFill>
            <a:srgbClr val="FFFFFF"/>
          </a:solidFill>
          <a:ln/>
        </p:spPr>
      </p:sp>
      <p:sp>
        <p:nvSpPr>
          <p:cNvPr id="31" name="Text 29"/>
          <p:cNvSpPr/>
          <p:nvPr/>
        </p:nvSpPr>
        <p:spPr>
          <a:xfrm>
            <a:off x="7498080" y="2807208"/>
            <a:ext cx="347472" cy="347472"/>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5</a:t>
            </a:r>
            <a:endParaRPr lang="en-US" sz="1400" dirty="0"/>
          </a:p>
        </p:txBody>
      </p:sp>
      <p:sp>
        <p:nvSpPr>
          <p:cNvPr id="32" name="Text 30"/>
          <p:cNvSpPr/>
          <p:nvPr/>
        </p:nvSpPr>
        <p:spPr>
          <a:xfrm>
            <a:off x="7004304" y="3383280"/>
            <a:ext cx="1335024" cy="50292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Recommend</a:t>
            </a:r>
            <a:endParaRPr lang="en-US" sz="1350" dirty="0"/>
          </a:p>
        </p:txBody>
      </p:sp>
      <p:sp>
        <p:nvSpPr>
          <p:cNvPr id="33" name="Text 31"/>
          <p:cNvSpPr/>
          <p:nvPr/>
        </p:nvSpPr>
        <p:spPr>
          <a:xfrm>
            <a:off x="7004304" y="3904488"/>
            <a:ext cx="1335024" cy="914400"/>
          </a:xfrm>
          <a:prstGeom prst="rect">
            <a:avLst/>
          </a:prstGeom>
          <a:noFill/>
          <a:ln/>
        </p:spPr>
        <p:txBody>
          <a:bodyPr wrap="square" lIns="0" tIns="0" rIns="0" bIns="0" rtlCol="0" anchor="ctr"/>
          <a:lstStyle/>
          <a:p>
            <a:pPr marL="0" indent="0" algn="ctr">
              <a:lnSpc>
                <a:spcPct val="120000"/>
              </a:lnSpc>
              <a:buNone/>
            </a:pPr>
            <a:r>
              <a:rPr lang="en-US" sz="1000" dirty="0">
                <a:solidFill>
                  <a:srgbClr val="CADCFC"/>
                </a:solidFill>
                <a:latin typeface="Calibri" pitchFamily="34" charset="0"/>
                <a:ea typeface="Calibri" pitchFamily="34" charset="-122"/>
                <a:cs typeface="Calibri" pitchFamily="34" charset="-120"/>
              </a:rPr>
              <a:t>Action from real repair history</a:t>
            </a:r>
            <a:endParaRPr lang="en-US" sz="1000" dirty="0"/>
          </a:p>
        </p:txBody>
      </p:sp>
      <p:sp>
        <p:nvSpPr>
          <p:cNvPr id="34" name="Text 32"/>
          <p:cNvSpPr/>
          <p:nvPr/>
        </p:nvSpPr>
        <p:spPr>
          <a:xfrm>
            <a:off x="8417052" y="3547872"/>
            <a:ext cx="82296" cy="402336"/>
          </a:xfrm>
          <a:prstGeom prst="rect">
            <a:avLst/>
          </a:prstGeom>
          <a:noFill/>
          <a:ln/>
        </p:spPr>
        <p:txBody>
          <a:bodyPr wrap="square" lIns="0" tIns="0" rIns="0" bIns="0" rtlCol="0" anchor="ctr"/>
          <a:lstStyle/>
          <a:p>
            <a:pPr marL="0" indent="0" algn="ctr">
              <a:buNone/>
            </a:pPr>
            <a:r>
              <a:rPr lang="en-US" sz="1600" b="1" dirty="0">
                <a:solidFill>
                  <a:srgbClr val="B9BDC9"/>
                </a:solidFill>
                <a:latin typeface="Calibri" pitchFamily="34" charset="0"/>
                <a:ea typeface="Calibri" pitchFamily="34" charset="-122"/>
                <a:cs typeface="Calibri" pitchFamily="34" charset="-120"/>
              </a:rPr>
              <a:t>›</a:t>
            </a:r>
            <a:endParaRPr lang="en-US" sz="1600" dirty="0"/>
          </a:p>
        </p:txBody>
      </p:sp>
      <p:sp>
        <p:nvSpPr>
          <p:cNvPr id="35" name="Shape 33"/>
          <p:cNvSpPr/>
          <p:nvPr/>
        </p:nvSpPr>
        <p:spPr>
          <a:xfrm>
            <a:off x="8503920" y="2606040"/>
            <a:ext cx="1481328" cy="2286000"/>
          </a:xfrm>
          <a:prstGeom prst="roundRect">
            <a:avLst>
              <a:gd name="adj" fmla="val 6173"/>
            </a:avLst>
          </a:prstGeom>
          <a:solidFill>
            <a:srgbClr val="334198"/>
          </a:solidFill>
          <a:ln/>
        </p:spPr>
      </p:sp>
      <p:sp>
        <p:nvSpPr>
          <p:cNvPr id="36" name="Shape 34"/>
          <p:cNvSpPr/>
          <p:nvPr/>
        </p:nvSpPr>
        <p:spPr>
          <a:xfrm>
            <a:off x="9070848" y="2807208"/>
            <a:ext cx="347472" cy="347472"/>
          </a:xfrm>
          <a:prstGeom prst="ellipse">
            <a:avLst/>
          </a:prstGeom>
          <a:solidFill>
            <a:srgbClr val="FFFFFF"/>
          </a:solidFill>
          <a:ln/>
        </p:spPr>
      </p:sp>
      <p:sp>
        <p:nvSpPr>
          <p:cNvPr id="37" name="Text 35"/>
          <p:cNvSpPr/>
          <p:nvPr/>
        </p:nvSpPr>
        <p:spPr>
          <a:xfrm>
            <a:off x="9070848" y="2807208"/>
            <a:ext cx="347472" cy="347472"/>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6</a:t>
            </a:r>
            <a:endParaRPr lang="en-US" sz="1400" dirty="0"/>
          </a:p>
        </p:txBody>
      </p:sp>
      <p:sp>
        <p:nvSpPr>
          <p:cNvPr id="38" name="Text 36"/>
          <p:cNvSpPr/>
          <p:nvPr/>
        </p:nvSpPr>
        <p:spPr>
          <a:xfrm>
            <a:off x="8577072" y="3383280"/>
            <a:ext cx="1335024" cy="50292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Escalate</a:t>
            </a:r>
            <a:endParaRPr lang="en-US" sz="1350" dirty="0"/>
          </a:p>
        </p:txBody>
      </p:sp>
      <p:sp>
        <p:nvSpPr>
          <p:cNvPr id="39" name="Text 37"/>
          <p:cNvSpPr/>
          <p:nvPr/>
        </p:nvSpPr>
        <p:spPr>
          <a:xfrm>
            <a:off x="8577072" y="3904488"/>
            <a:ext cx="1335024" cy="914400"/>
          </a:xfrm>
          <a:prstGeom prst="rect">
            <a:avLst/>
          </a:prstGeom>
          <a:noFill/>
          <a:ln/>
        </p:spPr>
        <p:txBody>
          <a:bodyPr wrap="square" lIns="0" tIns="0" rIns="0" bIns="0" rtlCol="0" anchor="ctr"/>
          <a:lstStyle/>
          <a:p>
            <a:pPr marL="0" indent="0" algn="ctr">
              <a:lnSpc>
                <a:spcPct val="120000"/>
              </a:lnSpc>
              <a:buNone/>
            </a:pPr>
            <a:r>
              <a:rPr lang="en-US" sz="1000" dirty="0">
                <a:solidFill>
                  <a:srgbClr val="CADCFC"/>
                </a:solidFill>
                <a:latin typeface="Calibri" pitchFamily="34" charset="0"/>
                <a:ea typeface="Calibri" pitchFamily="34" charset="-122"/>
                <a:cs typeface="Calibri" pitchFamily="34" charset="-120"/>
              </a:rPr>
              <a:t>Auto-route or human review</a:t>
            </a:r>
            <a:endParaRPr lang="en-US" sz="1000" dirty="0"/>
          </a:p>
        </p:txBody>
      </p:sp>
      <p:sp>
        <p:nvSpPr>
          <p:cNvPr id="40" name="Text 38"/>
          <p:cNvSpPr/>
          <p:nvPr/>
        </p:nvSpPr>
        <p:spPr>
          <a:xfrm>
            <a:off x="9989820" y="3547872"/>
            <a:ext cx="82296" cy="402336"/>
          </a:xfrm>
          <a:prstGeom prst="rect">
            <a:avLst/>
          </a:prstGeom>
          <a:noFill/>
          <a:ln/>
        </p:spPr>
        <p:txBody>
          <a:bodyPr wrap="square" lIns="0" tIns="0" rIns="0" bIns="0" rtlCol="0" anchor="ctr"/>
          <a:lstStyle/>
          <a:p>
            <a:pPr marL="0" indent="0" algn="ctr">
              <a:buNone/>
            </a:pPr>
            <a:r>
              <a:rPr lang="en-US" sz="1600" b="1" dirty="0">
                <a:solidFill>
                  <a:srgbClr val="B9BDC9"/>
                </a:solidFill>
                <a:latin typeface="Calibri" pitchFamily="34" charset="0"/>
                <a:ea typeface="Calibri" pitchFamily="34" charset="-122"/>
                <a:cs typeface="Calibri" pitchFamily="34" charset="-120"/>
              </a:rPr>
              <a:t>›</a:t>
            </a:r>
            <a:endParaRPr lang="en-US" sz="1600" dirty="0"/>
          </a:p>
        </p:txBody>
      </p:sp>
      <p:sp>
        <p:nvSpPr>
          <p:cNvPr id="41" name="Shape 39"/>
          <p:cNvSpPr/>
          <p:nvPr/>
        </p:nvSpPr>
        <p:spPr>
          <a:xfrm>
            <a:off x="10076688" y="2606040"/>
            <a:ext cx="1481328" cy="2286000"/>
          </a:xfrm>
          <a:prstGeom prst="roundRect">
            <a:avLst>
              <a:gd name="adj" fmla="val 6173"/>
            </a:avLst>
          </a:prstGeom>
          <a:solidFill>
            <a:srgbClr val="02C39A"/>
          </a:solidFill>
          <a:ln/>
        </p:spPr>
      </p:sp>
      <p:sp>
        <p:nvSpPr>
          <p:cNvPr id="42" name="Shape 40"/>
          <p:cNvSpPr/>
          <p:nvPr/>
        </p:nvSpPr>
        <p:spPr>
          <a:xfrm>
            <a:off x="10643616" y="2807208"/>
            <a:ext cx="347472" cy="347472"/>
          </a:xfrm>
          <a:prstGeom prst="ellipse">
            <a:avLst/>
          </a:prstGeom>
          <a:solidFill>
            <a:srgbClr val="FFFFFF"/>
          </a:solidFill>
          <a:ln/>
        </p:spPr>
      </p:sp>
      <p:sp>
        <p:nvSpPr>
          <p:cNvPr id="43" name="Text 41"/>
          <p:cNvSpPr/>
          <p:nvPr/>
        </p:nvSpPr>
        <p:spPr>
          <a:xfrm>
            <a:off x="10643616" y="2807208"/>
            <a:ext cx="347472" cy="347472"/>
          </a:xfrm>
          <a:prstGeom prst="rect">
            <a:avLst/>
          </a:prstGeom>
          <a:noFill/>
          <a:ln/>
        </p:spPr>
        <p:txBody>
          <a:bodyPr wrap="square" lIns="0" tIns="0" rIns="0" bIns="0" rtlCol="0" anchor="ctr"/>
          <a:lstStyle/>
          <a:p>
            <a:pPr marL="0" indent="0" algn="ctr">
              <a:buNone/>
            </a:pPr>
            <a:r>
              <a:rPr lang="en-US" sz="1400" b="1" dirty="0">
                <a:solidFill>
                  <a:srgbClr val="02C39A"/>
                </a:solidFill>
                <a:latin typeface="Calibri" pitchFamily="34" charset="0"/>
                <a:ea typeface="Calibri" pitchFamily="34" charset="-122"/>
                <a:cs typeface="Calibri" pitchFamily="34" charset="-120"/>
              </a:rPr>
              <a:t>7</a:t>
            </a:r>
            <a:endParaRPr lang="en-US" sz="1400" dirty="0"/>
          </a:p>
        </p:txBody>
      </p:sp>
      <p:sp>
        <p:nvSpPr>
          <p:cNvPr id="44" name="Text 42"/>
          <p:cNvSpPr/>
          <p:nvPr/>
        </p:nvSpPr>
        <p:spPr>
          <a:xfrm>
            <a:off x="10149840" y="3383280"/>
            <a:ext cx="1335024" cy="50292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Validate</a:t>
            </a:r>
            <a:endParaRPr lang="en-US" sz="1350" dirty="0"/>
          </a:p>
        </p:txBody>
      </p:sp>
      <p:sp>
        <p:nvSpPr>
          <p:cNvPr id="45" name="Text 43"/>
          <p:cNvSpPr/>
          <p:nvPr/>
        </p:nvSpPr>
        <p:spPr>
          <a:xfrm>
            <a:off x="10149840" y="3904488"/>
            <a:ext cx="1335024" cy="914400"/>
          </a:xfrm>
          <a:prstGeom prst="rect">
            <a:avLst/>
          </a:prstGeom>
          <a:noFill/>
          <a:ln/>
        </p:spPr>
        <p:txBody>
          <a:bodyPr wrap="square" lIns="0" tIns="0" rIns="0" bIns="0" rtlCol="0" anchor="ctr"/>
          <a:lstStyle/>
          <a:p>
            <a:pPr marL="0" indent="0" algn="ctr">
              <a:lnSpc>
                <a:spcPct val="120000"/>
              </a:lnSpc>
              <a:buNone/>
            </a:pPr>
            <a:r>
              <a:rPr lang="en-US" sz="1000" dirty="0">
                <a:solidFill>
                  <a:srgbClr val="1E2761"/>
                </a:solidFill>
                <a:latin typeface="Calibri" pitchFamily="34" charset="0"/>
                <a:ea typeface="Calibri" pitchFamily="34" charset="-122"/>
                <a:cs typeface="Calibri" pitchFamily="34" charset="-120"/>
              </a:rPr>
              <a:t>Backtested vs real outcomes</a:t>
            </a:r>
            <a:endParaRPr lang="en-US" sz="1000" dirty="0"/>
          </a:p>
        </p:txBody>
      </p:sp>
      <p:sp>
        <p:nvSpPr>
          <p:cNvPr id="46" name="Text 44"/>
          <p:cNvSpPr/>
          <p:nvPr/>
        </p:nvSpPr>
        <p:spPr>
          <a:xfrm>
            <a:off x="640080" y="5257800"/>
            <a:ext cx="10607040" cy="640080"/>
          </a:xfrm>
          <a:prstGeom prst="rect">
            <a:avLst/>
          </a:prstGeom>
          <a:noFill/>
          <a:ln/>
        </p:spPr>
        <p:txBody>
          <a:bodyPr wrap="square" lIns="0" tIns="0" rIns="0" bIns="0" rtlCol="0" anchor="ctr"/>
          <a:lstStyle/>
          <a:p>
            <a:pPr marL="0" indent="0" algn="l">
              <a:buNone/>
            </a:pPr>
            <a:r>
              <a:rPr lang="en-US" sz="1400" i="1" dirty="0">
                <a:solidFill>
                  <a:srgbClr val="1E2761"/>
                </a:solidFill>
                <a:latin typeface="Cambria" pitchFamily="34" charset="0"/>
                <a:ea typeface="Cambria" pitchFamily="34" charset="-122"/>
                <a:cs typeface="Cambria" pitchFamily="34" charset="-120"/>
              </a:rPr>
              <a:t>“Agentic AI orchestrating an existing predictive model, historical case evidence, and real repair history — not an LLM replacing the model.”</a:t>
            </a:r>
            <a:endParaRPr lang="en-US" sz="1400" dirty="0"/>
          </a:p>
        </p:txBody>
      </p:sp>
      <p:sp>
        <p:nvSpPr>
          <p:cNvPr id="47" name="Text 45"/>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6B6F85"/>
                </a:solidFill>
                <a:latin typeface="Calibri" pitchFamily="34" charset="0"/>
                <a:ea typeface="Calibri" pitchFamily="34" charset="-122"/>
                <a:cs typeface="Calibri" pitchFamily="34" charset="-120"/>
              </a:rPr>
              <a:t>Agentic AI Predictive Maintenance</a:t>
            </a:r>
            <a:endParaRPr lang="en-US" sz="1000" dirty="0"/>
          </a:p>
        </p:txBody>
      </p:sp>
      <p:sp>
        <p:nvSpPr>
          <p:cNvPr id="48" name="Text 4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6F8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buNone/>
            </a:pPr>
            <a:r>
              <a:rPr lang="en-US" sz="1200" b="1" kern="0" spc="100" dirty="0">
                <a:solidFill>
                  <a:srgbClr val="02C39A"/>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640080" y="777240"/>
            <a:ext cx="10515600" cy="548640"/>
          </a:xfrm>
          <a:prstGeom prst="rect">
            <a:avLst/>
          </a:prstGeom>
          <a:noFill/>
          <a:ln/>
        </p:spPr>
        <p:txBody>
          <a:bodyPr wrap="square" lIns="0" tIns="0" rIns="0" bIns="0" rtlCol="0" anchor="ctr"/>
          <a:lstStyle/>
          <a:p>
            <a:pPr marL="0" indent="0">
              <a:buNone/>
            </a:pPr>
            <a:r>
              <a:rPr lang="en-US" sz="2600" b="1" dirty="0">
                <a:solidFill>
                  <a:srgbClr val="1C1C28"/>
                </a:solidFill>
                <a:latin typeface="Cambria" pitchFamily="34" charset="0"/>
                <a:ea typeface="Cambria" pitchFamily="34" charset="-122"/>
                <a:cs typeface="Cambria" pitchFamily="34" charset="-120"/>
              </a:rPr>
              <a:t>Seven agents. Each calls a dedicated tool.</a:t>
            </a:r>
            <a:endParaRPr lang="en-US" sz="2600" dirty="0"/>
          </a:p>
        </p:txBody>
      </p:sp>
      <p:sp>
        <p:nvSpPr>
          <p:cNvPr id="4" name="Text 2"/>
          <p:cNvSpPr/>
          <p:nvPr/>
        </p:nvSpPr>
        <p:spPr>
          <a:xfrm>
            <a:off x="640080" y="1298448"/>
            <a:ext cx="10607040" cy="457200"/>
          </a:xfrm>
          <a:prstGeom prst="rect">
            <a:avLst/>
          </a:prstGeom>
          <a:noFill/>
          <a:ln/>
        </p:spPr>
        <p:txBody>
          <a:bodyPr wrap="square" lIns="0" tIns="0" rIns="0" bIns="0" rtlCol="0" anchor="ctr"/>
          <a:lstStyle/>
          <a:p>
            <a:pPr marL="0" indent="0">
              <a:lnSpc>
                <a:spcPct val="125000"/>
              </a:lnSpc>
              <a:buNone/>
            </a:pPr>
            <a:r>
              <a:rPr lang="en-US" sz="1250" dirty="0">
                <a:solidFill>
                  <a:srgbClr val="6B6F85"/>
                </a:solidFill>
                <a:latin typeface="Calibri" pitchFamily="34" charset="0"/>
                <a:ea typeface="Calibri" pitchFamily="34" charset="-122"/>
                <a:cs typeface="Calibri" pitchFamily="34" charset="-120"/>
              </a:rPr>
              <a:t>Core design principle: the agent is the investigator, the ML/statistical model is a tool it calls — the LLM reasons and explains, it does not replace the predictive model.</a:t>
            </a:r>
            <a:endParaRPr lang="en-US" sz="1250" dirty="0"/>
          </a:p>
        </p:txBody>
      </p:sp>
      <p:sp>
        <p:nvSpPr>
          <p:cNvPr id="5" name="Shape 3"/>
          <p:cNvSpPr/>
          <p:nvPr/>
        </p:nvSpPr>
        <p:spPr>
          <a:xfrm>
            <a:off x="640080" y="2002536"/>
            <a:ext cx="310896" cy="310896"/>
          </a:xfrm>
          <a:prstGeom prst="ellipse">
            <a:avLst/>
          </a:prstGeom>
          <a:solidFill>
            <a:srgbClr val="1E2761"/>
          </a:solidFill>
          <a:ln/>
        </p:spPr>
      </p:sp>
      <p:sp>
        <p:nvSpPr>
          <p:cNvPr id="6" name="Text 4"/>
          <p:cNvSpPr/>
          <p:nvPr/>
        </p:nvSpPr>
        <p:spPr>
          <a:xfrm>
            <a:off x="640080" y="200253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43000" y="1920240"/>
            <a:ext cx="2743200" cy="457200"/>
          </a:xfrm>
          <a:prstGeom prst="rect">
            <a:avLst/>
          </a:prstGeom>
          <a:noFill/>
          <a:ln/>
        </p:spPr>
        <p:txBody>
          <a:bodyPr wrap="square" lIns="0" tIns="0" rIns="0" bIns="0" rtlCol="0" anchor="ctr"/>
          <a:lstStyle/>
          <a:p>
            <a:pPr marL="0" indent="0">
              <a:buNone/>
            </a:pPr>
            <a:r>
              <a:rPr lang="en-US" sz="1250" b="1" dirty="0">
                <a:solidFill>
                  <a:srgbClr val="1C1C28"/>
                </a:solidFill>
                <a:latin typeface="Calibri" pitchFamily="34" charset="0"/>
                <a:ea typeface="Calibri" pitchFamily="34" charset="-122"/>
                <a:cs typeface="Calibri" pitchFamily="34" charset="-120"/>
              </a:rPr>
              <a:t>Telemetry Health Agent</a:t>
            </a:r>
            <a:endParaRPr lang="en-US" sz="1250" dirty="0"/>
          </a:p>
        </p:txBody>
      </p:sp>
      <p:sp>
        <p:nvSpPr>
          <p:cNvPr id="8" name="Text 6"/>
          <p:cNvSpPr/>
          <p:nvPr/>
        </p:nvSpPr>
        <p:spPr>
          <a:xfrm>
            <a:off x="3977640" y="1920240"/>
            <a:ext cx="2606040" cy="457200"/>
          </a:xfrm>
          <a:prstGeom prst="rect">
            <a:avLst/>
          </a:prstGeom>
          <a:noFill/>
          <a:ln/>
        </p:spPr>
        <p:txBody>
          <a:bodyPr wrap="square" lIns="0" tIns="0" rIns="0" bIns="0" rtlCol="0" anchor="ctr"/>
          <a:lstStyle/>
          <a:p>
            <a:pPr marL="0" indent="0">
              <a:buNone/>
            </a:pPr>
            <a:r>
              <a:rPr lang="en-US" sz="1000" dirty="0">
                <a:solidFill>
                  <a:srgbClr val="02C39A"/>
                </a:solidFill>
                <a:latin typeface="Courier New" pitchFamily="34" charset="0"/>
                <a:ea typeface="Courier New" pitchFamily="34" charset="-122"/>
                <a:cs typeface="Courier New" pitchFamily="34" charset="-120"/>
              </a:rPr>
              <a:t>predict_failure_risk</a:t>
            </a:r>
            <a:endParaRPr lang="en-US" sz="1000" dirty="0"/>
          </a:p>
        </p:txBody>
      </p:sp>
      <p:sp>
        <p:nvSpPr>
          <p:cNvPr id="9" name="Text 7"/>
          <p:cNvSpPr/>
          <p:nvPr/>
        </p:nvSpPr>
        <p:spPr>
          <a:xfrm>
            <a:off x="6720840" y="1920240"/>
            <a:ext cx="4846320" cy="457200"/>
          </a:xfrm>
          <a:prstGeom prst="rect">
            <a:avLst/>
          </a:prstGeom>
          <a:noFill/>
          <a:ln/>
        </p:spPr>
        <p:txBody>
          <a:bodyPr wrap="square" lIns="0" tIns="0" rIns="0" bIns="0" rtlCol="0" anchor="ctr"/>
          <a:lstStyle/>
          <a:p>
            <a:pPr marL="0" indent="0">
              <a:lnSpc>
                <a:spcPct val="110000"/>
              </a:lnSpc>
              <a:buNone/>
            </a:pPr>
            <a:r>
              <a:rPr lang="en-US" sz="1100" dirty="0">
                <a:solidFill>
                  <a:srgbClr val="6B6F85"/>
                </a:solidFill>
                <a:latin typeface="Calibri" pitchFamily="34" charset="0"/>
                <a:ea typeface="Calibri" pitchFamily="34" charset="-122"/>
                <a:cs typeface="Calibri" pitchFamily="34" charset="-120"/>
              </a:rPr>
              <a:t>Scores real-time failure risk from rolling sensor deviation</a:t>
            </a:r>
            <a:endParaRPr lang="en-US" sz="1100" dirty="0"/>
          </a:p>
        </p:txBody>
      </p:sp>
      <p:sp>
        <p:nvSpPr>
          <p:cNvPr id="10" name="Shape 8"/>
          <p:cNvSpPr/>
          <p:nvPr/>
        </p:nvSpPr>
        <p:spPr>
          <a:xfrm>
            <a:off x="640080" y="2441448"/>
            <a:ext cx="10927080" cy="0"/>
          </a:xfrm>
          <a:prstGeom prst="line">
            <a:avLst/>
          </a:prstGeom>
          <a:noFill/>
          <a:ln w="9525">
            <a:solidFill>
              <a:srgbClr val="E4E6EE"/>
            </a:solidFill>
            <a:prstDash val="solid"/>
          </a:ln>
        </p:spPr>
      </p:sp>
      <p:sp>
        <p:nvSpPr>
          <p:cNvPr id="11" name="Shape 9"/>
          <p:cNvSpPr/>
          <p:nvPr/>
        </p:nvSpPr>
        <p:spPr>
          <a:xfrm>
            <a:off x="640080" y="2606040"/>
            <a:ext cx="310896" cy="310896"/>
          </a:xfrm>
          <a:prstGeom prst="ellipse">
            <a:avLst/>
          </a:prstGeom>
          <a:solidFill>
            <a:srgbClr val="1E2761"/>
          </a:solidFill>
          <a:ln/>
        </p:spPr>
      </p:sp>
      <p:sp>
        <p:nvSpPr>
          <p:cNvPr id="12" name="Text 10"/>
          <p:cNvSpPr/>
          <p:nvPr/>
        </p:nvSpPr>
        <p:spPr>
          <a:xfrm>
            <a:off x="640080" y="260604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143000" y="2523744"/>
            <a:ext cx="2743200" cy="457200"/>
          </a:xfrm>
          <a:prstGeom prst="rect">
            <a:avLst/>
          </a:prstGeom>
          <a:noFill/>
          <a:ln/>
        </p:spPr>
        <p:txBody>
          <a:bodyPr wrap="square" lIns="0" tIns="0" rIns="0" bIns="0" rtlCol="0" anchor="ctr"/>
          <a:lstStyle/>
          <a:p>
            <a:pPr marL="0" indent="0">
              <a:buNone/>
            </a:pPr>
            <a:r>
              <a:rPr lang="en-US" sz="1250" b="1" dirty="0">
                <a:solidFill>
                  <a:srgbClr val="1C1C28"/>
                </a:solidFill>
                <a:latin typeface="Calibri" pitchFamily="34" charset="0"/>
                <a:ea typeface="Calibri" pitchFamily="34" charset="-122"/>
                <a:cs typeface="Calibri" pitchFamily="34" charset="-120"/>
              </a:rPr>
              <a:t>Prioritization Agent</a:t>
            </a:r>
            <a:endParaRPr lang="en-US" sz="1250" dirty="0"/>
          </a:p>
        </p:txBody>
      </p:sp>
      <p:sp>
        <p:nvSpPr>
          <p:cNvPr id="14" name="Text 12"/>
          <p:cNvSpPr/>
          <p:nvPr/>
        </p:nvSpPr>
        <p:spPr>
          <a:xfrm>
            <a:off x="3977640" y="2523744"/>
            <a:ext cx="2606040" cy="457200"/>
          </a:xfrm>
          <a:prstGeom prst="rect">
            <a:avLst/>
          </a:prstGeom>
          <a:noFill/>
          <a:ln/>
        </p:spPr>
        <p:txBody>
          <a:bodyPr wrap="square" lIns="0" tIns="0" rIns="0" bIns="0" rtlCol="0" anchor="ctr"/>
          <a:lstStyle/>
          <a:p>
            <a:pPr marL="0" indent="0">
              <a:buNone/>
            </a:pPr>
            <a:r>
              <a:rPr lang="en-US" sz="1000" dirty="0">
                <a:solidFill>
                  <a:srgbClr val="02C39A"/>
                </a:solidFill>
                <a:latin typeface="Courier New" pitchFamily="34" charset="0"/>
                <a:ea typeface="Courier New" pitchFamily="34" charset="-122"/>
                <a:cs typeface="Courier New" pitchFamily="34" charset="-120"/>
              </a:rPr>
              <a:t>get_failure_rate_stats</a:t>
            </a:r>
            <a:endParaRPr lang="en-US" sz="1000" dirty="0"/>
          </a:p>
        </p:txBody>
      </p:sp>
      <p:sp>
        <p:nvSpPr>
          <p:cNvPr id="15" name="Text 13"/>
          <p:cNvSpPr/>
          <p:nvPr/>
        </p:nvSpPr>
        <p:spPr>
          <a:xfrm>
            <a:off x="6720840" y="2523744"/>
            <a:ext cx="4846320" cy="457200"/>
          </a:xfrm>
          <a:prstGeom prst="rect">
            <a:avLst/>
          </a:prstGeom>
          <a:noFill/>
          <a:ln/>
        </p:spPr>
        <p:txBody>
          <a:bodyPr wrap="square" lIns="0" tIns="0" rIns="0" bIns="0" rtlCol="0" anchor="ctr"/>
          <a:lstStyle/>
          <a:p>
            <a:pPr marL="0" indent="0">
              <a:lnSpc>
                <a:spcPct val="110000"/>
              </a:lnSpc>
              <a:buNone/>
            </a:pPr>
            <a:r>
              <a:rPr lang="en-US" sz="1100" dirty="0">
                <a:solidFill>
                  <a:srgbClr val="6B6F85"/>
                </a:solidFill>
                <a:latin typeface="Calibri" pitchFamily="34" charset="0"/>
                <a:ea typeface="Calibri" pitchFamily="34" charset="-122"/>
                <a:cs typeface="Calibri" pitchFamily="34" charset="-120"/>
              </a:rPr>
              <a:t>Ranks urgency using empirical MTBF-style failure statistics</a:t>
            </a:r>
            <a:endParaRPr lang="en-US" sz="1100" dirty="0"/>
          </a:p>
        </p:txBody>
      </p:sp>
      <p:sp>
        <p:nvSpPr>
          <p:cNvPr id="16" name="Shape 14"/>
          <p:cNvSpPr/>
          <p:nvPr/>
        </p:nvSpPr>
        <p:spPr>
          <a:xfrm>
            <a:off x="640080" y="3044952"/>
            <a:ext cx="10927080" cy="0"/>
          </a:xfrm>
          <a:prstGeom prst="line">
            <a:avLst/>
          </a:prstGeom>
          <a:noFill/>
          <a:ln w="9525">
            <a:solidFill>
              <a:srgbClr val="E4E6EE"/>
            </a:solidFill>
            <a:prstDash val="solid"/>
          </a:ln>
        </p:spPr>
      </p:sp>
      <p:sp>
        <p:nvSpPr>
          <p:cNvPr id="17" name="Shape 15"/>
          <p:cNvSpPr/>
          <p:nvPr/>
        </p:nvSpPr>
        <p:spPr>
          <a:xfrm>
            <a:off x="640080" y="3209544"/>
            <a:ext cx="310896" cy="310896"/>
          </a:xfrm>
          <a:prstGeom prst="ellipse">
            <a:avLst/>
          </a:prstGeom>
          <a:solidFill>
            <a:srgbClr val="1E2761"/>
          </a:solidFill>
          <a:ln/>
        </p:spPr>
      </p:sp>
      <p:sp>
        <p:nvSpPr>
          <p:cNvPr id="18" name="Text 16"/>
          <p:cNvSpPr/>
          <p:nvPr/>
        </p:nvSpPr>
        <p:spPr>
          <a:xfrm>
            <a:off x="640080" y="320954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143000" y="3127248"/>
            <a:ext cx="2743200" cy="457200"/>
          </a:xfrm>
          <a:prstGeom prst="rect">
            <a:avLst/>
          </a:prstGeom>
          <a:noFill/>
          <a:ln/>
        </p:spPr>
        <p:txBody>
          <a:bodyPr wrap="square" lIns="0" tIns="0" rIns="0" bIns="0" rtlCol="0" anchor="ctr"/>
          <a:lstStyle/>
          <a:p>
            <a:pPr marL="0" indent="0">
              <a:buNone/>
            </a:pPr>
            <a:r>
              <a:rPr lang="en-US" sz="1250" b="1" dirty="0">
                <a:solidFill>
                  <a:srgbClr val="1C1C28"/>
                </a:solidFill>
                <a:latin typeface="Calibri" pitchFamily="34" charset="0"/>
                <a:ea typeface="Calibri" pitchFamily="34" charset="-122"/>
                <a:cs typeface="Calibri" pitchFamily="34" charset="-120"/>
              </a:rPr>
              <a:t>Case Retrieval Agent</a:t>
            </a:r>
            <a:endParaRPr lang="en-US" sz="1250" dirty="0"/>
          </a:p>
        </p:txBody>
      </p:sp>
      <p:sp>
        <p:nvSpPr>
          <p:cNvPr id="20" name="Text 18"/>
          <p:cNvSpPr/>
          <p:nvPr/>
        </p:nvSpPr>
        <p:spPr>
          <a:xfrm>
            <a:off x="3977640" y="3127248"/>
            <a:ext cx="2606040" cy="457200"/>
          </a:xfrm>
          <a:prstGeom prst="rect">
            <a:avLst/>
          </a:prstGeom>
          <a:noFill/>
          <a:ln/>
        </p:spPr>
        <p:txBody>
          <a:bodyPr wrap="square" lIns="0" tIns="0" rIns="0" bIns="0" rtlCol="0" anchor="ctr"/>
          <a:lstStyle/>
          <a:p>
            <a:pPr marL="0" indent="0">
              <a:buNone/>
            </a:pPr>
            <a:r>
              <a:rPr lang="en-US" sz="1000" dirty="0">
                <a:solidFill>
                  <a:srgbClr val="02C39A"/>
                </a:solidFill>
                <a:latin typeface="Courier New" pitchFamily="34" charset="0"/>
                <a:ea typeface="Courier New" pitchFamily="34" charset="-122"/>
                <a:cs typeface="Courier New" pitchFamily="34" charset="-120"/>
              </a:rPr>
              <a:t>retrieve_similar_cases</a:t>
            </a:r>
            <a:endParaRPr lang="en-US" sz="1000" dirty="0"/>
          </a:p>
        </p:txBody>
      </p:sp>
      <p:sp>
        <p:nvSpPr>
          <p:cNvPr id="21" name="Text 19"/>
          <p:cNvSpPr/>
          <p:nvPr/>
        </p:nvSpPr>
        <p:spPr>
          <a:xfrm>
            <a:off x="6720840" y="3127248"/>
            <a:ext cx="4846320" cy="457200"/>
          </a:xfrm>
          <a:prstGeom prst="rect">
            <a:avLst/>
          </a:prstGeom>
          <a:noFill/>
          <a:ln/>
        </p:spPr>
        <p:txBody>
          <a:bodyPr wrap="square" lIns="0" tIns="0" rIns="0" bIns="0" rtlCol="0" anchor="ctr"/>
          <a:lstStyle/>
          <a:p>
            <a:pPr marL="0" indent="0">
              <a:lnSpc>
                <a:spcPct val="110000"/>
              </a:lnSpc>
              <a:buNone/>
            </a:pPr>
            <a:r>
              <a:rPr lang="en-US" sz="1100" dirty="0">
                <a:solidFill>
                  <a:srgbClr val="6B6F85"/>
                </a:solidFill>
                <a:latin typeface="Calibri" pitchFamily="34" charset="0"/>
                <a:ea typeface="Calibri" pitchFamily="34" charset="-122"/>
                <a:cs typeface="Calibri" pitchFamily="34" charset="-120"/>
              </a:rPr>
              <a:t>Finds similar real historical failures (ChromaDB vector search)</a:t>
            </a:r>
            <a:endParaRPr lang="en-US" sz="1100" dirty="0"/>
          </a:p>
        </p:txBody>
      </p:sp>
      <p:sp>
        <p:nvSpPr>
          <p:cNvPr id="22" name="Shape 20"/>
          <p:cNvSpPr/>
          <p:nvPr/>
        </p:nvSpPr>
        <p:spPr>
          <a:xfrm>
            <a:off x="640080" y="3648456"/>
            <a:ext cx="10927080" cy="0"/>
          </a:xfrm>
          <a:prstGeom prst="line">
            <a:avLst/>
          </a:prstGeom>
          <a:noFill/>
          <a:ln w="9525">
            <a:solidFill>
              <a:srgbClr val="E4E6EE"/>
            </a:solidFill>
            <a:prstDash val="solid"/>
          </a:ln>
        </p:spPr>
      </p:sp>
      <p:sp>
        <p:nvSpPr>
          <p:cNvPr id="23" name="Shape 21"/>
          <p:cNvSpPr/>
          <p:nvPr/>
        </p:nvSpPr>
        <p:spPr>
          <a:xfrm>
            <a:off x="640080" y="3813048"/>
            <a:ext cx="310896" cy="310896"/>
          </a:xfrm>
          <a:prstGeom prst="ellipse">
            <a:avLst/>
          </a:prstGeom>
          <a:solidFill>
            <a:srgbClr val="1E2761"/>
          </a:solidFill>
          <a:ln/>
        </p:spPr>
      </p:sp>
      <p:sp>
        <p:nvSpPr>
          <p:cNvPr id="24" name="Text 22"/>
          <p:cNvSpPr/>
          <p:nvPr/>
        </p:nvSpPr>
        <p:spPr>
          <a:xfrm>
            <a:off x="640080" y="3813048"/>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1143000" y="3730752"/>
            <a:ext cx="2743200" cy="457200"/>
          </a:xfrm>
          <a:prstGeom prst="rect">
            <a:avLst/>
          </a:prstGeom>
          <a:noFill/>
          <a:ln/>
        </p:spPr>
        <p:txBody>
          <a:bodyPr wrap="square" lIns="0" tIns="0" rIns="0" bIns="0" rtlCol="0" anchor="ctr"/>
          <a:lstStyle/>
          <a:p>
            <a:pPr marL="0" indent="0">
              <a:buNone/>
            </a:pPr>
            <a:r>
              <a:rPr lang="en-US" sz="1250" b="1" dirty="0">
                <a:solidFill>
                  <a:srgbClr val="1C1C28"/>
                </a:solidFill>
                <a:latin typeface="Calibri" pitchFamily="34" charset="0"/>
                <a:ea typeface="Calibri" pitchFamily="34" charset="-122"/>
                <a:cs typeface="Calibri" pitchFamily="34" charset="-120"/>
              </a:rPr>
              <a:t>Reasoning Agent</a:t>
            </a:r>
            <a:endParaRPr lang="en-US" sz="1250" dirty="0"/>
          </a:p>
        </p:txBody>
      </p:sp>
      <p:sp>
        <p:nvSpPr>
          <p:cNvPr id="26" name="Text 24"/>
          <p:cNvSpPr/>
          <p:nvPr/>
        </p:nvSpPr>
        <p:spPr>
          <a:xfrm>
            <a:off x="3977640" y="3730752"/>
            <a:ext cx="2606040" cy="457200"/>
          </a:xfrm>
          <a:prstGeom prst="rect">
            <a:avLst/>
          </a:prstGeom>
          <a:noFill/>
          <a:ln/>
        </p:spPr>
        <p:txBody>
          <a:bodyPr wrap="square" lIns="0" tIns="0" rIns="0" bIns="0" rtlCol="0" anchor="ctr"/>
          <a:lstStyle/>
          <a:p>
            <a:pPr marL="0" indent="0">
              <a:buNone/>
            </a:pPr>
            <a:r>
              <a:rPr lang="en-US" sz="1000" dirty="0">
                <a:solidFill>
                  <a:srgbClr val="02C39A"/>
                </a:solidFill>
                <a:latin typeface="Courier New" pitchFamily="34" charset="0"/>
                <a:ea typeface="Courier New" pitchFamily="34" charset="-122"/>
                <a:cs typeface="Courier New" pitchFamily="34" charset="-120"/>
              </a:rPr>
              <a:t>Claude (LLM)</a:t>
            </a:r>
            <a:endParaRPr lang="en-US" sz="1000" dirty="0"/>
          </a:p>
        </p:txBody>
      </p:sp>
      <p:sp>
        <p:nvSpPr>
          <p:cNvPr id="27" name="Text 25"/>
          <p:cNvSpPr/>
          <p:nvPr/>
        </p:nvSpPr>
        <p:spPr>
          <a:xfrm>
            <a:off x="6720840" y="3730752"/>
            <a:ext cx="4846320" cy="457200"/>
          </a:xfrm>
          <a:prstGeom prst="rect">
            <a:avLst/>
          </a:prstGeom>
          <a:noFill/>
          <a:ln/>
        </p:spPr>
        <p:txBody>
          <a:bodyPr wrap="square" lIns="0" tIns="0" rIns="0" bIns="0" rtlCol="0" anchor="ctr"/>
          <a:lstStyle/>
          <a:p>
            <a:pPr marL="0" indent="0">
              <a:lnSpc>
                <a:spcPct val="110000"/>
              </a:lnSpc>
              <a:buNone/>
            </a:pPr>
            <a:r>
              <a:rPr lang="en-US" sz="1100" dirty="0">
                <a:solidFill>
                  <a:srgbClr val="6B6F85"/>
                </a:solidFill>
                <a:latin typeface="Calibri" pitchFamily="34" charset="0"/>
                <a:ea typeface="Calibri" pitchFamily="34" charset="-122"/>
                <a:cs typeface="Calibri" pitchFamily="34" charset="-120"/>
              </a:rPr>
              <a:t>Diagnoses likely component + confidence, grounded in evidence</a:t>
            </a:r>
            <a:endParaRPr lang="en-US" sz="1100" dirty="0"/>
          </a:p>
        </p:txBody>
      </p:sp>
      <p:sp>
        <p:nvSpPr>
          <p:cNvPr id="28" name="Shape 26"/>
          <p:cNvSpPr/>
          <p:nvPr/>
        </p:nvSpPr>
        <p:spPr>
          <a:xfrm>
            <a:off x="640080" y="4251960"/>
            <a:ext cx="10927080" cy="0"/>
          </a:xfrm>
          <a:prstGeom prst="line">
            <a:avLst/>
          </a:prstGeom>
          <a:noFill/>
          <a:ln w="9525">
            <a:solidFill>
              <a:srgbClr val="E4E6EE"/>
            </a:solidFill>
            <a:prstDash val="solid"/>
          </a:ln>
        </p:spPr>
      </p:sp>
      <p:sp>
        <p:nvSpPr>
          <p:cNvPr id="29" name="Shape 27"/>
          <p:cNvSpPr/>
          <p:nvPr/>
        </p:nvSpPr>
        <p:spPr>
          <a:xfrm>
            <a:off x="640080" y="4416552"/>
            <a:ext cx="310896" cy="310896"/>
          </a:xfrm>
          <a:prstGeom prst="ellipse">
            <a:avLst/>
          </a:prstGeom>
          <a:solidFill>
            <a:srgbClr val="1E2761"/>
          </a:solidFill>
          <a:ln/>
        </p:spPr>
      </p:sp>
      <p:sp>
        <p:nvSpPr>
          <p:cNvPr id="30" name="Text 28"/>
          <p:cNvSpPr/>
          <p:nvPr/>
        </p:nvSpPr>
        <p:spPr>
          <a:xfrm>
            <a:off x="640080" y="441655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1143000" y="4334256"/>
            <a:ext cx="2743200" cy="457200"/>
          </a:xfrm>
          <a:prstGeom prst="rect">
            <a:avLst/>
          </a:prstGeom>
          <a:noFill/>
          <a:ln/>
        </p:spPr>
        <p:txBody>
          <a:bodyPr wrap="square" lIns="0" tIns="0" rIns="0" bIns="0" rtlCol="0" anchor="ctr"/>
          <a:lstStyle/>
          <a:p>
            <a:pPr marL="0" indent="0">
              <a:buNone/>
            </a:pPr>
            <a:r>
              <a:rPr lang="en-US" sz="1250" b="1" dirty="0">
                <a:solidFill>
                  <a:srgbClr val="1C1C28"/>
                </a:solidFill>
                <a:latin typeface="Calibri" pitchFamily="34" charset="0"/>
                <a:ea typeface="Calibri" pitchFamily="34" charset="-122"/>
                <a:cs typeface="Calibri" pitchFamily="34" charset="-120"/>
              </a:rPr>
              <a:t>Recommendation Agent</a:t>
            </a:r>
            <a:endParaRPr lang="en-US" sz="1250" dirty="0"/>
          </a:p>
        </p:txBody>
      </p:sp>
      <p:sp>
        <p:nvSpPr>
          <p:cNvPr id="32" name="Text 30"/>
          <p:cNvSpPr/>
          <p:nvPr/>
        </p:nvSpPr>
        <p:spPr>
          <a:xfrm>
            <a:off x="3977640" y="4334256"/>
            <a:ext cx="2606040" cy="457200"/>
          </a:xfrm>
          <a:prstGeom prst="rect">
            <a:avLst/>
          </a:prstGeom>
          <a:noFill/>
          <a:ln/>
        </p:spPr>
        <p:txBody>
          <a:bodyPr wrap="square" lIns="0" tIns="0" rIns="0" bIns="0" rtlCol="0" anchor="ctr"/>
          <a:lstStyle/>
          <a:p>
            <a:pPr marL="0" indent="0">
              <a:buNone/>
            </a:pPr>
            <a:r>
              <a:rPr lang="en-US" sz="1000" dirty="0">
                <a:solidFill>
                  <a:srgbClr val="02C39A"/>
                </a:solidFill>
                <a:latin typeface="Courier New" pitchFamily="34" charset="0"/>
                <a:ea typeface="Courier New" pitchFamily="34" charset="-122"/>
                <a:cs typeface="Courier New" pitchFamily="34" charset="-120"/>
              </a:rPr>
              <a:t>get_historical_maintenance_action</a:t>
            </a:r>
            <a:endParaRPr lang="en-US" sz="1000" dirty="0"/>
          </a:p>
        </p:txBody>
      </p:sp>
      <p:sp>
        <p:nvSpPr>
          <p:cNvPr id="33" name="Text 31"/>
          <p:cNvSpPr/>
          <p:nvPr/>
        </p:nvSpPr>
        <p:spPr>
          <a:xfrm>
            <a:off x="6720840" y="4334256"/>
            <a:ext cx="4846320" cy="457200"/>
          </a:xfrm>
          <a:prstGeom prst="rect">
            <a:avLst/>
          </a:prstGeom>
          <a:noFill/>
          <a:ln/>
        </p:spPr>
        <p:txBody>
          <a:bodyPr wrap="square" lIns="0" tIns="0" rIns="0" bIns="0" rtlCol="0" anchor="ctr"/>
          <a:lstStyle/>
          <a:p>
            <a:pPr marL="0" indent="0">
              <a:lnSpc>
                <a:spcPct val="110000"/>
              </a:lnSpc>
              <a:buNone/>
            </a:pPr>
            <a:r>
              <a:rPr lang="en-US" sz="1100" dirty="0">
                <a:solidFill>
                  <a:srgbClr val="6B6F85"/>
                </a:solidFill>
                <a:latin typeface="Calibri" pitchFamily="34" charset="0"/>
                <a:ea typeface="Calibri" pitchFamily="34" charset="-122"/>
                <a:cs typeface="Calibri" pitchFamily="34" charset="-120"/>
              </a:rPr>
              <a:t>Suggests action from real repair/maintenance history</a:t>
            </a:r>
            <a:endParaRPr lang="en-US" sz="1100" dirty="0"/>
          </a:p>
        </p:txBody>
      </p:sp>
      <p:sp>
        <p:nvSpPr>
          <p:cNvPr id="34" name="Shape 32"/>
          <p:cNvSpPr/>
          <p:nvPr/>
        </p:nvSpPr>
        <p:spPr>
          <a:xfrm>
            <a:off x="640080" y="4855464"/>
            <a:ext cx="10927080" cy="0"/>
          </a:xfrm>
          <a:prstGeom prst="line">
            <a:avLst/>
          </a:prstGeom>
          <a:noFill/>
          <a:ln w="9525">
            <a:solidFill>
              <a:srgbClr val="E4E6EE"/>
            </a:solidFill>
            <a:prstDash val="solid"/>
          </a:ln>
        </p:spPr>
      </p:sp>
      <p:sp>
        <p:nvSpPr>
          <p:cNvPr id="35" name="Shape 33"/>
          <p:cNvSpPr/>
          <p:nvPr/>
        </p:nvSpPr>
        <p:spPr>
          <a:xfrm>
            <a:off x="640080" y="5020056"/>
            <a:ext cx="310896" cy="310896"/>
          </a:xfrm>
          <a:prstGeom prst="ellipse">
            <a:avLst/>
          </a:prstGeom>
          <a:solidFill>
            <a:srgbClr val="1E2761"/>
          </a:solidFill>
          <a:ln/>
        </p:spPr>
      </p:sp>
      <p:sp>
        <p:nvSpPr>
          <p:cNvPr id="36" name="Text 34"/>
          <p:cNvSpPr/>
          <p:nvPr/>
        </p:nvSpPr>
        <p:spPr>
          <a:xfrm>
            <a:off x="640080" y="502005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7" name="Text 35"/>
          <p:cNvSpPr/>
          <p:nvPr/>
        </p:nvSpPr>
        <p:spPr>
          <a:xfrm>
            <a:off x="1143000" y="4937760"/>
            <a:ext cx="2743200" cy="457200"/>
          </a:xfrm>
          <a:prstGeom prst="rect">
            <a:avLst/>
          </a:prstGeom>
          <a:noFill/>
          <a:ln/>
        </p:spPr>
        <p:txBody>
          <a:bodyPr wrap="square" lIns="0" tIns="0" rIns="0" bIns="0" rtlCol="0" anchor="ctr"/>
          <a:lstStyle/>
          <a:p>
            <a:pPr marL="0" indent="0">
              <a:buNone/>
            </a:pPr>
            <a:r>
              <a:rPr lang="en-US" sz="1250" b="1" dirty="0">
                <a:solidFill>
                  <a:srgbClr val="1C1C28"/>
                </a:solidFill>
                <a:latin typeface="Calibri" pitchFamily="34" charset="0"/>
                <a:ea typeface="Calibri" pitchFamily="34" charset="-122"/>
                <a:cs typeface="Calibri" pitchFamily="34" charset="-120"/>
              </a:rPr>
              <a:t>Decision &amp; Routing Agent</a:t>
            </a:r>
            <a:endParaRPr lang="en-US" sz="1250" dirty="0"/>
          </a:p>
        </p:txBody>
      </p:sp>
      <p:sp>
        <p:nvSpPr>
          <p:cNvPr id="38" name="Text 36"/>
          <p:cNvSpPr/>
          <p:nvPr/>
        </p:nvSpPr>
        <p:spPr>
          <a:xfrm>
            <a:off x="3977640" y="4937760"/>
            <a:ext cx="2606040" cy="457200"/>
          </a:xfrm>
          <a:prstGeom prst="rect">
            <a:avLst/>
          </a:prstGeom>
          <a:noFill/>
          <a:ln/>
        </p:spPr>
        <p:txBody>
          <a:bodyPr wrap="square" lIns="0" tIns="0" rIns="0" bIns="0" rtlCol="0" anchor="ctr"/>
          <a:lstStyle/>
          <a:p>
            <a:pPr marL="0" indent="0">
              <a:buNone/>
            </a:pPr>
            <a:r>
              <a:rPr lang="en-US" sz="1000" dirty="0">
                <a:solidFill>
                  <a:srgbClr val="02C39A"/>
                </a:solidFill>
                <a:latin typeface="Courier New" pitchFamily="34" charset="0"/>
                <a:ea typeface="Courier New" pitchFamily="34" charset="-122"/>
                <a:cs typeface="Courier New" pitchFamily="34" charset="-120"/>
              </a:rPr>
              <a:t>confidence threshold</a:t>
            </a:r>
            <a:endParaRPr lang="en-US" sz="1000" dirty="0"/>
          </a:p>
        </p:txBody>
      </p:sp>
      <p:sp>
        <p:nvSpPr>
          <p:cNvPr id="39" name="Text 37"/>
          <p:cNvSpPr/>
          <p:nvPr/>
        </p:nvSpPr>
        <p:spPr>
          <a:xfrm>
            <a:off x="6720840" y="4937760"/>
            <a:ext cx="4846320" cy="457200"/>
          </a:xfrm>
          <a:prstGeom prst="rect">
            <a:avLst/>
          </a:prstGeom>
          <a:noFill/>
          <a:ln/>
        </p:spPr>
        <p:txBody>
          <a:bodyPr wrap="square" lIns="0" tIns="0" rIns="0" bIns="0" rtlCol="0" anchor="ctr"/>
          <a:lstStyle/>
          <a:p>
            <a:pPr marL="0" indent="0">
              <a:lnSpc>
                <a:spcPct val="110000"/>
              </a:lnSpc>
              <a:buNone/>
            </a:pPr>
            <a:r>
              <a:rPr lang="en-US" sz="1100" dirty="0">
                <a:solidFill>
                  <a:srgbClr val="6B6F85"/>
                </a:solidFill>
                <a:latin typeface="Calibri" pitchFamily="34" charset="0"/>
                <a:ea typeface="Calibri" pitchFamily="34" charset="-122"/>
                <a:cs typeface="Calibri" pitchFamily="34" charset="-120"/>
              </a:rPr>
              <a:t>Auto-routes high confidence; escalates the rest to a human</a:t>
            </a:r>
            <a:endParaRPr lang="en-US" sz="1100" dirty="0"/>
          </a:p>
        </p:txBody>
      </p:sp>
      <p:sp>
        <p:nvSpPr>
          <p:cNvPr id="40" name="Shape 38"/>
          <p:cNvSpPr/>
          <p:nvPr/>
        </p:nvSpPr>
        <p:spPr>
          <a:xfrm>
            <a:off x="640080" y="5458968"/>
            <a:ext cx="10927080" cy="0"/>
          </a:xfrm>
          <a:prstGeom prst="line">
            <a:avLst/>
          </a:prstGeom>
          <a:noFill/>
          <a:ln w="9525">
            <a:solidFill>
              <a:srgbClr val="E4E6EE"/>
            </a:solidFill>
            <a:prstDash val="solid"/>
          </a:ln>
        </p:spPr>
      </p:sp>
      <p:sp>
        <p:nvSpPr>
          <p:cNvPr id="41" name="Shape 39"/>
          <p:cNvSpPr/>
          <p:nvPr/>
        </p:nvSpPr>
        <p:spPr>
          <a:xfrm>
            <a:off x="640080" y="5623560"/>
            <a:ext cx="310896" cy="310896"/>
          </a:xfrm>
          <a:prstGeom prst="ellipse">
            <a:avLst/>
          </a:prstGeom>
          <a:solidFill>
            <a:srgbClr val="02C39A"/>
          </a:solidFill>
          <a:ln/>
        </p:spPr>
      </p:sp>
      <p:sp>
        <p:nvSpPr>
          <p:cNvPr id="42" name="Text 40"/>
          <p:cNvSpPr/>
          <p:nvPr/>
        </p:nvSpPr>
        <p:spPr>
          <a:xfrm>
            <a:off x="640080" y="562356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3" name="Text 41"/>
          <p:cNvSpPr/>
          <p:nvPr/>
        </p:nvSpPr>
        <p:spPr>
          <a:xfrm>
            <a:off x="1143000" y="5541264"/>
            <a:ext cx="2743200" cy="457200"/>
          </a:xfrm>
          <a:prstGeom prst="rect">
            <a:avLst/>
          </a:prstGeom>
          <a:noFill/>
          <a:ln/>
        </p:spPr>
        <p:txBody>
          <a:bodyPr wrap="square" lIns="0" tIns="0" rIns="0" bIns="0" rtlCol="0" anchor="ctr"/>
          <a:lstStyle/>
          <a:p>
            <a:pPr marL="0" indent="0">
              <a:buNone/>
            </a:pPr>
            <a:r>
              <a:rPr lang="en-US" sz="1250" b="1" dirty="0">
                <a:solidFill>
                  <a:srgbClr val="1C1C28"/>
                </a:solidFill>
                <a:latin typeface="Calibri" pitchFamily="34" charset="0"/>
                <a:ea typeface="Calibri" pitchFamily="34" charset="-122"/>
                <a:cs typeface="Calibri" pitchFamily="34" charset="-120"/>
              </a:rPr>
              <a:t>Feedback / Evaluation Agent</a:t>
            </a:r>
            <a:endParaRPr lang="en-US" sz="1250" dirty="0"/>
          </a:p>
        </p:txBody>
      </p:sp>
      <p:sp>
        <p:nvSpPr>
          <p:cNvPr id="44" name="Text 42"/>
          <p:cNvSpPr/>
          <p:nvPr/>
        </p:nvSpPr>
        <p:spPr>
          <a:xfrm>
            <a:off x="3977640" y="5541264"/>
            <a:ext cx="2606040" cy="457200"/>
          </a:xfrm>
          <a:prstGeom prst="rect">
            <a:avLst/>
          </a:prstGeom>
          <a:noFill/>
          <a:ln/>
        </p:spPr>
        <p:txBody>
          <a:bodyPr wrap="square" lIns="0" tIns="0" rIns="0" bIns="0" rtlCol="0" anchor="ctr"/>
          <a:lstStyle/>
          <a:p>
            <a:pPr marL="0" indent="0">
              <a:buNone/>
            </a:pPr>
            <a:r>
              <a:rPr lang="en-US" sz="1000" dirty="0">
                <a:solidFill>
                  <a:srgbClr val="02C39A"/>
                </a:solidFill>
                <a:latin typeface="Courier New" pitchFamily="34" charset="0"/>
                <a:ea typeface="Courier New" pitchFamily="34" charset="-122"/>
                <a:cs typeface="Courier New" pitchFamily="34" charset="-120"/>
              </a:rPr>
              <a:t>check_against_ground_truth</a:t>
            </a:r>
            <a:endParaRPr lang="en-US" sz="1000" dirty="0"/>
          </a:p>
        </p:txBody>
      </p:sp>
      <p:sp>
        <p:nvSpPr>
          <p:cNvPr id="45" name="Text 43"/>
          <p:cNvSpPr/>
          <p:nvPr/>
        </p:nvSpPr>
        <p:spPr>
          <a:xfrm>
            <a:off x="6720840" y="5541264"/>
            <a:ext cx="4846320" cy="457200"/>
          </a:xfrm>
          <a:prstGeom prst="rect">
            <a:avLst/>
          </a:prstGeom>
          <a:noFill/>
          <a:ln/>
        </p:spPr>
        <p:txBody>
          <a:bodyPr wrap="square" lIns="0" tIns="0" rIns="0" bIns="0" rtlCol="0" anchor="ctr"/>
          <a:lstStyle/>
          <a:p>
            <a:pPr marL="0" indent="0">
              <a:lnSpc>
                <a:spcPct val="110000"/>
              </a:lnSpc>
              <a:buNone/>
            </a:pPr>
            <a:r>
              <a:rPr lang="en-US" sz="1100" dirty="0">
                <a:solidFill>
                  <a:srgbClr val="6B6F85"/>
                </a:solidFill>
                <a:latin typeface="Calibri" pitchFamily="34" charset="0"/>
                <a:ea typeface="Calibri" pitchFamily="34" charset="-122"/>
                <a:cs typeface="Calibri" pitchFamily="34" charset="-120"/>
              </a:rPr>
              <a:t>Backtests predictions against real recorded failures</a:t>
            </a:r>
            <a:endParaRPr lang="en-US" sz="1100" dirty="0"/>
          </a:p>
        </p:txBody>
      </p:sp>
      <p:sp>
        <p:nvSpPr>
          <p:cNvPr id="46" name="Text 44"/>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6B6F85"/>
                </a:solidFill>
                <a:latin typeface="Calibri" pitchFamily="34" charset="0"/>
                <a:ea typeface="Calibri" pitchFamily="34" charset="-122"/>
                <a:cs typeface="Calibri" pitchFamily="34" charset="-120"/>
              </a:rPr>
              <a:t>Agentic AI Predictive Maintenance</a:t>
            </a:r>
            <a:endParaRPr lang="en-US" sz="1000" dirty="0"/>
          </a:p>
        </p:txBody>
      </p:sp>
      <p:sp>
        <p:nvSpPr>
          <p:cNvPr id="47" name="Text 4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6F8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200" b="1" kern="0" spc="100" dirty="0">
                <a:solidFill>
                  <a:srgbClr val="02C39A"/>
                </a:solidFill>
                <a:latin typeface="Calibri" pitchFamily="34" charset="0"/>
                <a:ea typeface="Calibri" pitchFamily="34" charset="-122"/>
                <a:cs typeface="Calibri" pitchFamily="34" charset="-120"/>
              </a:rPr>
              <a:t>AGENTIC AI DESIGN</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Tools compute. Agents decide.</a:t>
            </a:r>
            <a:endParaRPr lang="en-US" sz="2800" dirty="0"/>
          </a:p>
        </p:txBody>
      </p:sp>
      <p:sp>
        <p:nvSpPr>
          <p:cNvPr id="4" name="Text 2"/>
          <p:cNvSpPr/>
          <p:nvPr/>
        </p:nvSpPr>
        <p:spPr>
          <a:xfrm>
            <a:off x="640080" y="1481328"/>
            <a:ext cx="10515600" cy="548640"/>
          </a:xfrm>
          <a:prstGeom prst="rect">
            <a:avLst/>
          </a:prstGeom>
          <a:noFill/>
          <a:ln/>
        </p:spPr>
        <p:txBody>
          <a:bodyPr wrap="square" lIns="0" tIns="0" rIns="0" bIns="0" rtlCol="0" anchor="ctr"/>
          <a:lstStyle/>
          <a:p>
            <a:pPr marL="0" indent="0">
              <a:lnSpc>
                <a:spcPct val="130000"/>
              </a:lnSpc>
              <a:buNone/>
            </a:pPr>
            <a:r>
              <a:rPr lang="en-US" sz="1300" dirty="0">
                <a:solidFill>
                  <a:srgbClr val="CADCFC"/>
                </a:solidFill>
                <a:latin typeface="Calibri" pitchFamily="34" charset="0"/>
                <a:ea typeface="Calibri" pitchFamily="34" charset="-122"/>
                <a:cs typeface="Calibri" pitchFamily="34" charset="-120"/>
              </a:rPr>
              <a:t>Every agent wraps a plain function (the tool) and adds a layer of judgment on top — deciding when to call it, and what the result means for the next step in the chain.</a:t>
            </a:r>
            <a:endParaRPr lang="en-US" sz="1300" dirty="0"/>
          </a:p>
        </p:txBody>
      </p:sp>
      <p:sp>
        <p:nvSpPr>
          <p:cNvPr id="5" name="Shape 3"/>
          <p:cNvSpPr/>
          <p:nvPr/>
        </p:nvSpPr>
        <p:spPr>
          <a:xfrm>
            <a:off x="640080" y="2331720"/>
            <a:ext cx="5212080" cy="3566160"/>
          </a:xfrm>
          <a:prstGeom prst="roundRect">
            <a:avLst>
              <a:gd name="adj" fmla="val 3077"/>
            </a:avLst>
          </a:prstGeom>
          <a:solidFill>
            <a:srgbClr val="262F80"/>
          </a:solidFill>
          <a:ln/>
        </p:spPr>
      </p:sp>
      <p:sp>
        <p:nvSpPr>
          <p:cNvPr id="6" name="Text 4"/>
          <p:cNvSpPr/>
          <p:nvPr/>
        </p:nvSpPr>
        <p:spPr>
          <a:xfrm>
            <a:off x="960120" y="2560320"/>
            <a:ext cx="4572000" cy="365760"/>
          </a:xfrm>
          <a:prstGeom prst="rect">
            <a:avLst/>
          </a:prstGeom>
          <a:noFill/>
          <a:ln/>
        </p:spPr>
        <p:txBody>
          <a:bodyPr wrap="square" rtlCol="0" anchor="ctr"/>
          <a:lstStyle/>
          <a:p>
            <a:pPr marL="0" indent="0">
              <a:buNone/>
            </a:pPr>
            <a:r>
              <a:rPr lang="en-US" sz="1300" b="1" kern="0" spc="100" dirty="0">
                <a:solidFill>
                  <a:srgbClr val="02C39A"/>
                </a:solidFill>
                <a:latin typeface="Calibri" pitchFamily="34" charset="0"/>
                <a:ea typeface="Calibri" pitchFamily="34" charset="-122"/>
                <a:cs typeface="Calibri" pitchFamily="34" charset="-120"/>
              </a:rPr>
              <a:t>TOOLS</a:t>
            </a:r>
            <a:endParaRPr lang="en-US" sz="1300" dirty="0"/>
          </a:p>
        </p:txBody>
      </p:sp>
      <p:sp>
        <p:nvSpPr>
          <p:cNvPr id="7" name="Text 5"/>
          <p:cNvSpPr/>
          <p:nvPr/>
        </p:nvSpPr>
        <p:spPr>
          <a:xfrm>
            <a:off x="960120" y="2907792"/>
            <a:ext cx="4572000" cy="365760"/>
          </a:xfrm>
          <a:prstGeom prst="rect">
            <a:avLst/>
          </a:prstGeom>
          <a:noFill/>
          <a:ln/>
        </p:spPr>
        <p:txBody>
          <a:bodyPr wrap="square" lIns="0" tIns="0" rIns="0" bIns="0"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Plain functions. No judgment, just computation.</a:t>
            </a:r>
            <a:endParaRPr lang="en-US" sz="1100" dirty="0"/>
          </a:p>
        </p:txBody>
      </p:sp>
      <p:sp>
        <p:nvSpPr>
          <p:cNvPr id="8" name="Text 6"/>
          <p:cNvSpPr/>
          <p:nvPr/>
        </p:nvSpPr>
        <p:spPr>
          <a:xfrm>
            <a:off x="960120" y="3429000"/>
            <a:ext cx="4480560" cy="384048"/>
          </a:xfrm>
          <a:prstGeom prst="rect">
            <a:avLst/>
          </a:prstGeom>
          <a:noFill/>
          <a:ln/>
        </p:spPr>
        <p:txBody>
          <a:bodyPr wrap="square" lIns="0" tIns="0" rIns="0" bIns="0" rtlCol="0" anchor="ctr"/>
          <a:lstStyle/>
          <a:p>
            <a:pPr marL="0" indent="0">
              <a:buNone/>
            </a:pPr>
            <a:r>
              <a:rPr lang="en-US" sz="1150" dirty="0">
                <a:solidFill>
                  <a:srgbClr val="FFFFFF"/>
                </a:solidFill>
                <a:latin typeface="Courier New" pitchFamily="34" charset="0"/>
                <a:ea typeface="Courier New" pitchFamily="34" charset="-122"/>
                <a:cs typeface="Courier New" pitchFamily="34" charset="-120"/>
              </a:rPr>
              <a:t>predict_failure_risk()  —  health score</a:t>
            </a:r>
            <a:endParaRPr lang="en-US" sz="1150" dirty="0"/>
          </a:p>
        </p:txBody>
      </p:sp>
      <p:sp>
        <p:nvSpPr>
          <p:cNvPr id="9" name="Text 7"/>
          <p:cNvSpPr/>
          <p:nvPr/>
        </p:nvSpPr>
        <p:spPr>
          <a:xfrm>
            <a:off x="960120" y="3995928"/>
            <a:ext cx="4480560" cy="384048"/>
          </a:xfrm>
          <a:prstGeom prst="rect">
            <a:avLst/>
          </a:prstGeom>
          <a:noFill/>
          <a:ln/>
        </p:spPr>
        <p:txBody>
          <a:bodyPr wrap="square" lIns="0" tIns="0" rIns="0" bIns="0" rtlCol="0" anchor="ctr"/>
          <a:lstStyle/>
          <a:p>
            <a:pPr marL="0" indent="0">
              <a:buNone/>
            </a:pPr>
            <a:r>
              <a:rPr lang="en-US" sz="1150" dirty="0">
                <a:solidFill>
                  <a:srgbClr val="FFFFFF"/>
                </a:solidFill>
                <a:latin typeface="Courier New" pitchFamily="34" charset="0"/>
                <a:ea typeface="Courier New" pitchFamily="34" charset="-122"/>
                <a:cs typeface="Courier New" pitchFamily="34" charset="-120"/>
              </a:rPr>
              <a:t>get_failure_rate_stats()  —  MTBF lookup</a:t>
            </a:r>
            <a:endParaRPr lang="en-US" sz="1150" dirty="0"/>
          </a:p>
        </p:txBody>
      </p:sp>
      <p:sp>
        <p:nvSpPr>
          <p:cNvPr id="10" name="Text 8"/>
          <p:cNvSpPr/>
          <p:nvPr/>
        </p:nvSpPr>
        <p:spPr>
          <a:xfrm>
            <a:off x="960120" y="4562856"/>
            <a:ext cx="4480560" cy="384048"/>
          </a:xfrm>
          <a:prstGeom prst="rect">
            <a:avLst/>
          </a:prstGeom>
          <a:noFill/>
          <a:ln/>
        </p:spPr>
        <p:txBody>
          <a:bodyPr wrap="square" lIns="0" tIns="0" rIns="0" bIns="0" rtlCol="0" anchor="ctr"/>
          <a:lstStyle/>
          <a:p>
            <a:pPr marL="0" indent="0">
              <a:buNone/>
            </a:pPr>
            <a:r>
              <a:rPr lang="en-US" sz="1150" dirty="0">
                <a:solidFill>
                  <a:srgbClr val="FFFFFF"/>
                </a:solidFill>
                <a:latin typeface="Courier New" pitchFamily="34" charset="0"/>
                <a:ea typeface="Courier New" pitchFamily="34" charset="-122"/>
                <a:cs typeface="Courier New" pitchFamily="34" charset="-120"/>
              </a:rPr>
              <a:t>retrieve_similar_cases()  —  vector search</a:t>
            </a:r>
            <a:endParaRPr lang="en-US" sz="1150" dirty="0"/>
          </a:p>
        </p:txBody>
      </p:sp>
      <p:sp>
        <p:nvSpPr>
          <p:cNvPr id="11" name="Text 9"/>
          <p:cNvSpPr/>
          <p:nvPr/>
        </p:nvSpPr>
        <p:spPr>
          <a:xfrm>
            <a:off x="960120" y="5129784"/>
            <a:ext cx="4480560" cy="384048"/>
          </a:xfrm>
          <a:prstGeom prst="rect">
            <a:avLst/>
          </a:prstGeom>
          <a:noFill/>
          <a:ln/>
        </p:spPr>
        <p:txBody>
          <a:bodyPr wrap="square" lIns="0" tIns="0" rIns="0" bIns="0" rtlCol="0" anchor="ctr"/>
          <a:lstStyle/>
          <a:p>
            <a:pPr marL="0" indent="0">
              <a:buNone/>
            </a:pPr>
            <a:r>
              <a:rPr lang="en-US" sz="1150" dirty="0">
                <a:solidFill>
                  <a:srgbClr val="FFFFFF"/>
                </a:solidFill>
                <a:latin typeface="Courier New" pitchFamily="34" charset="0"/>
                <a:ea typeface="Courier New" pitchFamily="34" charset="-122"/>
                <a:cs typeface="Courier New" pitchFamily="34" charset="-120"/>
              </a:rPr>
              <a:t>get_historical_maintenance_action()</a:t>
            </a:r>
            <a:endParaRPr lang="en-US" sz="1150" dirty="0"/>
          </a:p>
        </p:txBody>
      </p:sp>
      <p:sp>
        <p:nvSpPr>
          <p:cNvPr id="12" name="Shape 10"/>
          <p:cNvSpPr/>
          <p:nvPr/>
        </p:nvSpPr>
        <p:spPr>
          <a:xfrm>
            <a:off x="6172200" y="2331720"/>
            <a:ext cx="5394960" cy="3566160"/>
          </a:xfrm>
          <a:prstGeom prst="roundRect">
            <a:avLst>
              <a:gd name="adj" fmla="val 3077"/>
            </a:avLst>
          </a:prstGeom>
          <a:solidFill>
            <a:srgbClr val="02C39A"/>
          </a:solidFill>
          <a:ln/>
        </p:spPr>
      </p:sp>
      <p:sp>
        <p:nvSpPr>
          <p:cNvPr id="13" name="Text 11"/>
          <p:cNvSpPr/>
          <p:nvPr/>
        </p:nvSpPr>
        <p:spPr>
          <a:xfrm>
            <a:off x="6492240" y="2560320"/>
            <a:ext cx="4572000" cy="365760"/>
          </a:xfrm>
          <a:prstGeom prst="rect">
            <a:avLst/>
          </a:prstGeom>
          <a:noFill/>
          <a:ln/>
        </p:spPr>
        <p:txBody>
          <a:bodyPr wrap="square" rtlCol="0" anchor="ctr"/>
          <a:lstStyle/>
          <a:p>
            <a:pPr marL="0" indent="0">
              <a:buNone/>
            </a:pPr>
            <a:r>
              <a:rPr lang="en-US" sz="1300" b="1" kern="0" spc="100" dirty="0">
                <a:solidFill>
                  <a:srgbClr val="1E2761"/>
                </a:solidFill>
                <a:latin typeface="Calibri" pitchFamily="34" charset="0"/>
                <a:ea typeface="Calibri" pitchFamily="34" charset="-122"/>
                <a:cs typeface="Calibri" pitchFamily="34" charset="-120"/>
              </a:rPr>
              <a:t>AGENTS</a:t>
            </a:r>
            <a:endParaRPr lang="en-US" sz="1300" dirty="0"/>
          </a:p>
        </p:txBody>
      </p:sp>
      <p:sp>
        <p:nvSpPr>
          <p:cNvPr id="14" name="Text 12"/>
          <p:cNvSpPr/>
          <p:nvPr/>
        </p:nvSpPr>
        <p:spPr>
          <a:xfrm>
            <a:off x="6492240" y="2907792"/>
            <a:ext cx="4572000" cy="365760"/>
          </a:xfrm>
          <a:prstGeom prst="rect">
            <a:avLst/>
          </a:prstGeom>
          <a:noFill/>
          <a:ln/>
        </p:spPr>
        <p:txBody>
          <a:bodyPr wrap="square" lIns="0" tIns="0" rIns="0" bIns="0" rtlCol="0" anchor="ctr"/>
          <a:lstStyle/>
          <a:p>
            <a:pPr marL="0" indent="0">
              <a:buNone/>
            </a:pPr>
            <a:r>
              <a:rPr lang="en-US" sz="1100" i="1" dirty="0">
                <a:solidFill>
                  <a:srgbClr val="0B4D3C"/>
                </a:solidFill>
                <a:latin typeface="Calibri" pitchFamily="34" charset="0"/>
                <a:ea typeface="Calibri" pitchFamily="34" charset="-122"/>
                <a:cs typeface="Calibri" pitchFamily="34" charset="-120"/>
              </a:rPr>
              <a:t>Reasoning layer. Decide when, and what it means.</a:t>
            </a:r>
            <a:endParaRPr lang="en-US" sz="1100" dirty="0"/>
          </a:p>
        </p:txBody>
      </p:sp>
      <p:sp>
        <p:nvSpPr>
          <p:cNvPr id="15" name="Text 13"/>
          <p:cNvSpPr/>
          <p:nvPr/>
        </p:nvSpPr>
        <p:spPr>
          <a:xfrm>
            <a:off x="6492240" y="3429000"/>
            <a:ext cx="4846320" cy="384048"/>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Calls the tool for a given machine + date</a:t>
            </a:r>
            <a:endParaRPr lang="en-US" sz="1200" dirty="0"/>
          </a:p>
        </p:txBody>
      </p:sp>
      <p:sp>
        <p:nvSpPr>
          <p:cNvPr id="16" name="Text 14"/>
          <p:cNvSpPr/>
          <p:nvPr/>
        </p:nvSpPr>
        <p:spPr>
          <a:xfrm>
            <a:off x="6492240" y="3995928"/>
            <a:ext cx="4846320" cy="384048"/>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Interprets the result into a next action</a:t>
            </a:r>
            <a:endParaRPr lang="en-US" sz="1200" dirty="0"/>
          </a:p>
        </p:txBody>
      </p:sp>
      <p:sp>
        <p:nvSpPr>
          <p:cNvPr id="17" name="Text 15"/>
          <p:cNvSpPr/>
          <p:nvPr/>
        </p:nvSpPr>
        <p:spPr>
          <a:xfrm>
            <a:off x="6492240" y="4562856"/>
            <a:ext cx="4846320" cy="384048"/>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Hands its output to the next agent in the chain</a:t>
            </a:r>
            <a:endParaRPr lang="en-US" sz="1200" dirty="0"/>
          </a:p>
        </p:txBody>
      </p:sp>
      <p:sp>
        <p:nvSpPr>
          <p:cNvPr id="18" name="Text 16"/>
          <p:cNvSpPr/>
          <p:nvPr/>
        </p:nvSpPr>
        <p:spPr>
          <a:xfrm>
            <a:off x="6492240" y="5129784"/>
            <a:ext cx="4846320" cy="384048"/>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Adds accountability an LLM alone can't give</a:t>
            </a:r>
            <a:endParaRPr lang="en-US" sz="1200" dirty="0"/>
          </a:p>
        </p:txBody>
      </p:sp>
      <p:sp>
        <p:nvSpPr>
          <p:cNvPr id="19" name="Text 17"/>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Agentic AI Predictive Maintenance</a:t>
            </a:r>
            <a:endParaRPr lang="en-US" sz="1000" dirty="0"/>
          </a:p>
        </p:txBody>
      </p:sp>
      <p:sp>
        <p:nvSpPr>
          <p:cNvPr id="20" name="Text 18"/>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buNone/>
            </a:pPr>
            <a:r>
              <a:rPr lang="en-US" sz="1200" b="1" kern="0" spc="100" dirty="0">
                <a:solidFill>
                  <a:srgbClr val="02C39A"/>
                </a:solidFill>
                <a:latin typeface="Calibri" pitchFamily="34" charset="0"/>
                <a:ea typeface="Calibri" pitchFamily="34" charset="-122"/>
                <a:cs typeface="Calibri" pitchFamily="34" charset="-120"/>
              </a:rPr>
              <a:t>GENERATIVE AI  ·  RAG</a:t>
            </a:r>
            <a:endParaRPr lang="en-US" sz="1200" dirty="0"/>
          </a:p>
        </p:txBody>
      </p:sp>
      <p:sp>
        <p:nvSpPr>
          <p:cNvPr id="3" name="Text 1"/>
          <p:cNvSpPr/>
          <p:nvPr/>
        </p:nvSpPr>
        <p:spPr>
          <a:xfrm>
            <a:off x="640080" y="777240"/>
            <a:ext cx="10515600" cy="594360"/>
          </a:xfrm>
          <a:prstGeom prst="rect">
            <a:avLst/>
          </a:prstGeom>
          <a:noFill/>
          <a:ln/>
        </p:spPr>
        <p:txBody>
          <a:bodyPr wrap="square" lIns="0" tIns="0" rIns="0" bIns="0" rtlCol="0" anchor="ctr"/>
          <a:lstStyle/>
          <a:p>
            <a:pPr marL="0" indent="0">
              <a:buNone/>
            </a:pPr>
            <a:r>
              <a:rPr lang="en-US" sz="2600" b="1" dirty="0">
                <a:solidFill>
                  <a:srgbClr val="1C1C28"/>
                </a:solidFill>
                <a:latin typeface="Cambria" pitchFamily="34" charset="0"/>
                <a:ea typeface="Cambria" pitchFamily="34" charset="-122"/>
                <a:cs typeface="Cambria" pitchFamily="34" charset="-120"/>
              </a:rPr>
              <a:t>Diagnosis grounded in retrieved real evidence</a:t>
            </a:r>
            <a:endParaRPr lang="en-US" sz="2600" dirty="0"/>
          </a:p>
        </p:txBody>
      </p:sp>
      <p:sp>
        <p:nvSpPr>
          <p:cNvPr id="4" name="Text 2"/>
          <p:cNvSpPr/>
          <p:nvPr/>
        </p:nvSpPr>
        <p:spPr>
          <a:xfrm>
            <a:off x="640080" y="1417320"/>
            <a:ext cx="10607040" cy="502920"/>
          </a:xfrm>
          <a:prstGeom prst="rect">
            <a:avLst/>
          </a:prstGeom>
          <a:noFill/>
          <a:ln/>
        </p:spPr>
        <p:txBody>
          <a:bodyPr wrap="square" lIns="0" tIns="0" rIns="0" bIns="0" rtlCol="0" anchor="ctr"/>
          <a:lstStyle/>
          <a:p>
            <a:pPr marL="0" indent="0">
              <a:lnSpc>
                <a:spcPct val="125000"/>
              </a:lnSpc>
              <a:buNone/>
            </a:pPr>
            <a:r>
              <a:rPr lang="en-US" sz="1300" dirty="0">
                <a:solidFill>
                  <a:srgbClr val="6B6F85"/>
                </a:solidFill>
                <a:latin typeface="Calibri" pitchFamily="34" charset="0"/>
                <a:ea typeface="Calibri" pitchFamily="34" charset="-122"/>
                <a:cs typeface="Calibri" pitchFamily="34" charset="-120"/>
              </a:rPr>
              <a:t>Retrieval-Augmented Generation: instead of asking an LLM to guess from general training knowledge, the system retrieves real similar cases first — the LLM reasons only over that evidence.</a:t>
            </a:r>
            <a:endParaRPr lang="en-US" sz="1300" dirty="0"/>
          </a:p>
        </p:txBody>
      </p:sp>
      <p:sp>
        <p:nvSpPr>
          <p:cNvPr id="5" name="Shape 3"/>
          <p:cNvSpPr/>
          <p:nvPr/>
        </p:nvSpPr>
        <p:spPr>
          <a:xfrm>
            <a:off x="640080" y="2331720"/>
            <a:ext cx="329184" cy="329184"/>
          </a:xfrm>
          <a:prstGeom prst="ellipse">
            <a:avLst/>
          </a:prstGeom>
          <a:solidFill>
            <a:srgbClr val="1E2761"/>
          </a:solidFill>
          <a:ln/>
        </p:spPr>
      </p:sp>
      <p:sp>
        <p:nvSpPr>
          <p:cNvPr id="6" name="Text 4"/>
          <p:cNvSpPr/>
          <p:nvPr/>
        </p:nvSpPr>
        <p:spPr>
          <a:xfrm>
            <a:off x="640080" y="233172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88720" y="2276856"/>
            <a:ext cx="3200400" cy="438912"/>
          </a:xfrm>
          <a:prstGeom prst="rect">
            <a:avLst/>
          </a:prstGeom>
          <a:noFill/>
          <a:ln/>
        </p:spPr>
        <p:txBody>
          <a:bodyPr wrap="square" lIns="0" tIns="0" rIns="0" bIns="0" rtlCol="0" anchor="ctr"/>
          <a:lstStyle/>
          <a:p>
            <a:pPr marL="0" indent="0">
              <a:buNone/>
            </a:pPr>
            <a:r>
              <a:rPr lang="en-US" sz="1300" b="1" dirty="0">
                <a:solidFill>
                  <a:srgbClr val="1C1C28"/>
                </a:solidFill>
                <a:latin typeface="Calibri" pitchFamily="34" charset="0"/>
                <a:ea typeface="Calibri" pitchFamily="34" charset="-122"/>
                <a:cs typeface="Calibri" pitchFamily="34" charset="-120"/>
              </a:rPr>
              <a:t>Knowledge Library</a:t>
            </a:r>
            <a:endParaRPr lang="en-US" sz="1300" dirty="0"/>
          </a:p>
        </p:txBody>
      </p:sp>
      <p:sp>
        <p:nvSpPr>
          <p:cNvPr id="8" name="Text 6"/>
          <p:cNvSpPr/>
          <p:nvPr/>
        </p:nvSpPr>
        <p:spPr>
          <a:xfrm>
            <a:off x="4526280" y="2276856"/>
            <a:ext cx="7040880" cy="548640"/>
          </a:xfrm>
          <a:prstGeom prst="rect">
            <a:avLst/>
          </a:prstGeom>
          <a:noFill/>
          <a:ln/>
        </p:spPr>
        <p:txBody>
          <a:bodyPr wrap="square" lIns="0" tIns="0" rIns="0" bIns="0" rtlCol="0" anchor="ctr"/>
          <a:lstStyle/>
          <a:p>
            <a:pPr marL="0" indent="0">
              <a:lnSpc>
                <a:spcPct val="120000"/>
              </a:lnSpc>
              <a:buNone/>
            </a:pPr>
            <a:r>
              <a:rPr lang="en-US" sz="1150" dirty="0">
                <a:solidFill>
                  <a:srgbClr val="6B6F85"/>
                </a:solidFill>
                <a:latin typeface="Calibri" pitchFamily="34" charset="0"/>
                <a:ea typeface="Calibri" pitchFamily="34" charset="-122"/>
                <a:cs typeface="Calibri" pitchFamily="34" charset="-120"/>
              </a:rPr>
              <a:t>761 real failure cases embedded in ChromaDB — each a plain-language summary of real sensor deviations</a:t>
            </a:r>
            <a:endParaRPr lang="en-US" sz="1150" dirty="0"/>
          </a:p>
        </p:txBody>
      </p:sp>
      <p:sp>
        <p:nvSpPr>
          <p:cNvPr id="9" name="Shape 7"/>
          <p:cNvSpPr/>
          <p:nvPr/>
        </p:nvSpPr>
        <p:spPr>
          <a:xfrm>
            <a:off x="640080" y="3081528"/>
            <a:ext cx="329184" cy="329184"/>
          </a:xfrm>
          <a:prstGeom prst="ellipse">
            <a:avLst/>
          </a:prstGeom>
          <a:solidFill>
            <a:srgbClr val="1E2761"/>
          </a:solidFill>
          <a:ln/>
        </p:spPr>
      </p:sp>
      <p:sp>
        <p:nvSpPr>
          <p:cNvPr id="10" name="Text 8"/>
          <p:cNvSpPr/>
          <p:nvPr/>
        </p:nvSpPr>
        <p:spPr>
          <a:xfrm>
            <a:off x="640080" y="3081528"/>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188720" y="3026664"/>
            <a:ext cx="3200400" cy="438912"/>
          </a:xfrm>
          <a:prstGeom prst="rect">
            <a:avLst/>
          </a:prstGeom>
          <a:noFill/>
          <a:ln/>
        </p:spPr>
        <p:txBody>
          <a:bodyPr wrap="square" lIns="0" tIns="0" rIns="0" bIns="0" rtlCol="0" anchor="ctr"/>
          <a:lstStyle/>
          <a:p>
            <a:pPr marL="0" indent="0">
              <a:buNone/>
            </a:pPr>
            <a:r>
              <a:rPr lang="en-US" sz="1300" b="1" dirty="0">
                <a:solidFill>
                  <a:srgbClr val="1C1C28"/>
                </a:solidFill>
                <a:latin typeface="Calibri" pitchFamily="34" charset="0"/>
                <a:ea typeface="Calibri" pitchFamily="34" charset="-122"/>
                <a:cs typeface="Calibri" pitchFamily="34" charset="-120"/>
              </a:rPr>
              <a:t>Structured + semantic retrieval</a:t>
            </a:r>
            <a:endParaRPr lang="en-US" sz="1300" dirty="0"/>
          </a:p>
        </p:txBody>
      </p:sp>
      <p:sp>
        <p:nvSpPr>
          <p:cNvPr id="12" name="Text 10"/>
          <p:cNvSpPr/>
          <p:nvPr/>
        </p:nvSpPr>
        <p:spPr>
          <a:xfrm>
            <a:off x="4526280" y="3026664"/>
            <a:ext cx="7040880" cy="548640"/>
          </a:xfrm>
          <a:prstGeom prst="rect">
            <a:avLst/>
          </a:prstGeom>
          <a:noFill/>
          <a:ln/>
        </p:spPr>
        <p:txBody>
          <a:bodyPr wrap="square" lIns="0" tIns="0" rIns="0" bIns="0" rtlCol="0" anchor="ctr"/>
          <a:lstStyle/>
          <a:p>
            <a:pPr marL="0" indent="0">
              <a:lnSpc>
                <a:spcPct val="120000"/>
              </a:lnSpc>
              <a:buNone/>
            </a:pPr>
            <a:r>
              <a:rPr lang="en-US" sz="1150" dirty="0">
                <a:solidFill>
                  <a:srgbClr val="6B6F85"/>
                </a:solidFill>
                <a:latin typeface="Calibri" pitchFamily="34" charset="0"/>
                <a:ea typeface="Calibri" pitchFamily="34" charset="-122"/>
                <a:cs typeface="Calibri" pitchFamily="34" charset="-120"/>
              </a:rPr>
              <a:t>Filters on the query's own dominant sensor, then ranks by similarity — fixes a text-only-search bias found in testing</a:t>
            </a:r>
            <a:endParaRPr lang="en-US" sz="1150" dirty="0"/>
          </a:p>
        </p:txBody>
      </p:sp>
      <p:sp>
        <p:nvSpPr>
          <p:cNvPr id="13" name="Shape 11"/>
          <p:cNvSpPr/>
          <p:nvPr/>
        </p:nvSpPr>
        <p:spPr>
          <a:xfrm>
            <a:off x="640080" y="3831336"/>
            <a:ext cx="329184" cy="329184"/>
          </a:xfrm>
          <a:prstGeom prst="ellipse">
            <a:avLst/>
          </a:prstGeom>
          <a:solidFill>
            <a:srgbClr val="1E2761"/>
          </a:solidFill>
          <a:ln/>
        </p:spPr>
      </p:sp>
      <p:sp>
        <p:nvSpPr>
          <p:cNvPr id="14" name="Text 12"/>
          <p:cNvSpPr/>
          <p:nvPr/>
        </p:nvSpPr>
        <p:spPr>
          <a:xfrm>
            <a:off x="640080" y="3831336"/>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188720" y="3776472"/>
            <a:ext cx="3200400" cy="438912"/>
          </a:xfrm>
          <a:prstGeom prst="rect">
            <a:avLst/>
          </a:prstGeom>
          <a:noFill/>
          <a:ln/>
        </p:spPr>
        <p:txBody>
          <a:bodyPr wrap="square" lIns="0" tIns="0" rIns="0" bIns="0" rtlCol="0" anchor="ctr"/>
          <a:lstStyle/>
          <a:p>
            <a:pPr marL="0" indent="0">
              <a:buNone/>
            </a:pPr>
            <a:r>
              <a:rPr lang="en-US" sz="1300" b="1" dirty="0">
                <a:solidFill>
                  <a:srgbClr val="1C1C28"/>
                </a:solidFill>
                <a:latin typeface="Calibri" pitchFamily="34" charset="0"/>
                <a:ea typeface="Calibri" pitchFamily="34" charset="-122"/>
                <a:cs typeface="Calibri" pitchFamily="34" charset="-120"/>
              </a:rPr>
              <a:t>Claude reasons over evidence</a:t>
            </a:r>
            <a:endParaRPr lang="en-US" sz="1300" dirty="0"/>
          </a:p>
        </p:txBody>
      </p:sp>
      <p:sp>
        <p:nvSpPr>
          <p:cNvPr id="16" name="Text 14"/>
          <p:cNvSpPr/>
          <p:nvPr/>
        </p:nvSpPr>
        <p:spPr>
          <a:xfrm>
            <a:off x="4526280" y="3776472"/>
            <a:ext cx="7040880" cy="548640"/>
          </a:xfrm>
          <a:prstGeom prst="rect">
            <a:avLst/>
          </a:prstGeom>
          <a:noFill/>
          <a:ln/>
        </p:spPr>
        <p:txBody>
          <a:bodyPr wrap="square" lIns="0" tIns="0" rIns="0" bIns="0" rtlCol="0" anchor="ctr"/>
          <a:lstStyle/>
          <a:p>
            <a:pPr marL="0" indent="0">
              <a:lnSpc>
                <a:spcPct val="120000"/>
              </a:lnSpc>
              <a:buNone/>
            </a:pPr>
            <a:r>
              <a:rPr lang="en-US" sz="1150" dirty="0">
                <a:solidFill>
                  <a:srgbClr val="6B6F85"/>
                </a:solidFill>
                <a:latin typeface="Calibri" pitchFamily="34" charset="0"/>
                <a:ea typeface="Calibri" pitchFamily="34" charset="-122"/>
                <a:cs typeface="Calibri" pitchFamily="34" charset="-120"/>
              </a:rPr>
              <a:t>Prompted with the retrieved cases only — cites which specific case supports its diagnosis</a:t>
            </a:r>
            <a:endParaRPr lang="en-US" sz="1150" dirty="0"/>
          </a:p>
        </p:txBody>
      </p:sp>
      <p:sp>
        <p:nvSpPr>
          <p:cNvPr id="17" name="Shape 15"/>
          <p:cNvSpPr/>
          <p:nvPr/>
        </p:nvSpPr>
        <p:spPr>
          <a:xfrm>
            <a:off x="640080" y="4581144"/>
            <a:ext cx="329184" cy="329184"/>
          </a:xfrm>
          <a:prstGeom prst="ellipse">
            <a:avLst/>
          </a:prstGeom>
          <a:solidFill>
            <a:srgbClr val="1E2761"/>
          </a:solidFill>
          <a:ln/>
        </p:spPr>
      </p:sp>
      <p:sp>
        <p:nvSpPr>
          <p:cNvPr id="18" name="Text 16"/>
          <p:cNvSpPr/>
          <p:nvPr/>
        </p:nvSpPr>
        <p:spPr>
          <a:xfrm>
            <a:off x="640080" y="4581144"/>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188720" y="4526280"/>
            <a:ext cx="3200400" cy="438912"/>
          </a:xfrm>
          <a:prstGeom prst="rect">
            <a:avLst/>
          </a:prstGeom>
          <a:noFill/>
          <a:ln/>
        </p:spPr>
        <p:txBody>
          <a:bodyPr wrap="square" lIns="0" tIns="0" rIns="0" bIns="0" rtlCol="0" anchor="ctr"/>
          <a:lstStyle/>
          <a:p>
            <a:pPr marL="0" indent="0">
              <a:buNone/>
            </a:pPr>
            <a:r>
              <a:rPr lang="en-US" sz="1300" b="1" dirty="0">
                <a:solidFill>
                  <a:srgbClr val="1C1C28"/>
                </a:solidFill>
                <a:latin typeface="Calibri" pitchFamily="34" charset="0"/>
                <a:ea typeface="Calibri" pitchFamily="34" charset="-122"/>
                <a:cs typeface="Calibri" pitchFamily="34" charset="-120"/>
              </a:rPr>
              <a:t>Confidence reflects evidence quality</a:t>
            </a:r>
            <a:endParaRPr lang="en-US" sz="1300" dirty="0"/>
          </a:p>
        </p:txBody>
      </p:sp>
      <p:sp>
        <p:nvSpPr>
          <p:cNvPr id="20" name="Text 18"/>
          <p:cNvSpPr/>
          <p:nvPr/>
        </p:nvSpPr>
        <p:spPr>
          <a:xfrm>
            <a:off x="4526280" y="4526280"/>
            <a:ext cx="7040880" cy="548640"/>
          </a:xfrm>
          <a:prstGeom prst="rect">
            <a:avLst/>
          </a:prstGeom>
          <a:noFill/>
          <a:ln/>
        </p:spPr>
        <p:txBody>
          <a:bodyPr wrap="square" lIns="0" tIns="0" rIns="0" bIns="0" rtlCol="0" anchor="ctr"/>
          <a:lstStyle/>
          <a:p>
            <a:pPr marL="0" indent="0">
              <a:lnSpc>
                <a:spcPct val="120000"/>
              </a:lnSpc>
              <a:buNone/>
            </a:pPr>
            <a:r>
              <a:rPr lang="en-US" sz="1150" dirty="0">
                <a:solidFill>
                  <a:srgbClr val="6B6F85"/>
                </a:solidFill>
                <a:latin typeface="Calibri" pitchFamily="34" charset="0"/>
                <a:ea typeface="Calibri" pitchFamily="34" charset="-122"/>
                <a:cs typeface="Calibri" pitchFamily="34" charset="-120"/>
              </a:rPr>
              <a:t>Strong matches → high confidence; ambiguous evidence → the model says so and lowers confidence</a:t>
            </a:r>
            <a:endParaRPr lang="en-US" sz="1150" dirty="0"/>
          </a:p>
        </p:txBody>
      </p:sp>
      <p:sp>
        <p:nvSpPr>
          <p:cNvPr id="21" name="Shape 19"/>
          <p:cNvSpPr/>
          <p:nvPr/>
        </p:nvSpPr>
        <p:spPr>
          <a:xfrm>
            <a:off x="640080" y="5440680"/>
            <a:ext cx="10927080" cy="960120"/>
          </a:xfrm>
          <a:prstGeom prst="roundRect">
            <a:avLst>
              <a:gd name="adj" fmla="val 9524"/>
            </a:avLst>
          </a:prstGeom>
          <a:solidFill>
            <a:srgbClr val="F4F6FB"/>
          </a:solidFill>
          <a:ln/>
        </p:spPr>
      </p:sp>
      <p:sp>
        <p:nvSpPr>
          <p:cNvPr id="22" name="Text 20"/>
          <p:cNvSpPr/>
          <p:nvPr/>
        </p:nvSpPr>
        <p:spPr>
          <a:xfrm>
            <a:off x="868680" y="5532120"/>
            <a:ext cx="10424160" cy="274320"/>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Real diagnosis output — Machine 1, comp4, 85% confidence:</a:t>
            </a:r>
            <a:endParaRPr lang="en-US" sz="1050" dirty="0"/>
          </a:p>
        </p:txBody>
      </p:sp>
      <p:sp>
        <p:nvSpPr>
          <p:cNvPr id="23" name="Text 21"/>
          <p:cNvSpPr/>
          <p:nvPr/>
        </p:nvSpPr>
        <p:spPr>
          <a:xfrm>
            <a:off x="868680" y="5788152"/>
            <a:ext cx="10424160" cy="548640"/>
          </a:xfrm>
          <a:prstGeom prst="rect">
            <a:avLst/>
          </a:prstGeom>
          <a:noFill/>
          <a:ln/>
        </p:spPr>
        <p:txBody>
          <a:bodyPr wrap="square" lIns="0" tIns="0" rIns="0" bIns="0" rtlCol="0" anchor="ctr"/>
          <a:lstStyle/>
          <a:p>
            <a:pPr marL="0" indent="0">
              <a:lnSpc>
                <a:spcPct val="115000"/>
              </a:lnSpc>
              <a:buNone/>
            </a:pPr>
            <a:r>
              <a:rPr lang="en-US" sz="1150" i="1" dirty="0">
                <a:solidFill>
                  <a:srgbClr val="1C1C28"/>
                </a:solidFill>
                <a:latin typeface="Cambria" pitchFamily="34" charset="0"/>
                <a:ea typeface="Cambria" pitchFamily="34" charset="-122"/>
                <a:cs typeface="Cambria" pitchFamily="34" charset="-120"/>
              </a:rPr>
              <a:t>“The four most similar historical cases (Cases 1–4) all experienced comp4 failures with vibration patterns closely matching the current state… the strong pattern match outweighs the base-rate statistics in this instance.”</a:t>
            </a:r>
            <a:endParaRPr lang="en-US" sz="1150" dirty="0"/>
          </a:p>
        </p:txBody>
      </p:sp>
      <p:sp>
        <p:nvSpPr>
          <p:cNvPr id="24" name="Text 22"/>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6B6F85"/>
                </a:solidFill>
                <a:latin typeface="Calibri" pitchFamily="34" charset="0"/>
                <a:ea typeface="Calibri" pitchFamily="34" charset="-122"/>
                <a:cs typeface="Calibri" pitchFamily="34" charset="-120"/>
              </a:rPr>
              <a:t>Agentic AI Predictive Maintenance</a:t>
            </a:r>
            <a:endParaRPr lang="en-US" sz="1000" dirty="0"/>
          </a:p>
        </p:txBody>
      </p:sp>
      <p:sp>
        <p:nvSpPr>
          <p:cNvPr id="25" name="Text 23"/>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6F8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buNone/>
            </a:pPr>
            <a:r>
              <a:rPr lang="en-US" sz="1200" b="1" kern="0" spc="100" dirty="0">
                <a:solidFill>
                  <a:srgbClr val="02C39A"/>
                </a:solidFill>
                <a:latin typeface="Calibri" pitchFamily="34" charset="0"/>
                <a:ea typeface="Calibri" pitchFamily="34" charset="-122"/>
                <a:cs typeface="Calibri" pitchFamily="34" charset="-120"/>
              </a:rPr>
              <a:t>TECHNOLOGY STACK</a:t>
            </a:r>
            <a:endParaRPr lang="en-US" sz="1200" dirty="0"/>
          </a:p>
        </p:txBody>
      </p:sp>
      <p:sp>
        <p:nvSpPr>
          <p:cNvPr id="3" name="Text 1"/>
          <p:cNvSpPr/>
          <p:nvPr/>
        </p:nvSpPr>
        <p:spPr>
          <a:xfrm>
            <a:off x="640080" y="777240"/>
            <a:ext cx="10515600" cy="594360"/>
          </a:xfrm>
          <a:prstGeom prst="rect">
            <a:avLst/>
          </a:prstGeom>
          <a:noFill/>
          <a:ln/>
        </p:spPr>
        <p:txBody>
          <a:bodyPr wrap="square" lIns="0" tIns="0" rIns="0" bIns="0" rtlCol="0" anchor="ctr"/>
          <a:lstStyle/>
          <a:p>
            <a:pPr marL="0" indent="0">
              <a:buNone/>
            </a:pPr>
            <a:r>
              <a:rPr lang="en-US" sz="2600" b="1" dirty="0">
                <a:solidFill>
                  <a:srgbClr val="1C1C28"/>
                </a:solidFill>
                <a:latin typeface="Cambria" pitchFamily="34" charset="0"/>
                <a:ea typeface="Cambria" pitchFamily="34" charset="-122"/>
                <a:cs typeface="Cambria" pitchFamily="34" charset="-120"/>
              </a:rPr>
              <a:t>Built end-to-end, orchestration to interface</a:t>
            </a:r>
            <a:endParaRPr lang="en-US" sz="2600" dirty="0"/>
          </a:p>
        </p:txBody>
      </p:sp>
      <p:sp>
        <p:nvSpPr>
          <p:cNvPr id="4" name="Shape 2"/>
          <p:cNvSpPr/>
          <p:nvPr/>
        </p:nvSpPr>
        <p:spPr>
          <a:xfrm>
            <a:off x="640080" y="1965960"/>
            <a:ext cx="2615184" cy="1691640"/>
          </a:xfrm>
          <a:prstGeom prst="roundRect">
            <a:avLst>
              <a:gd name="adj" fmla="val 5405"/>
            </a:avLst>
          </a:prstGeom>
          <a:solidFill>
            <a:srgbClr val="1E2761"/>
          </a:solidFill>
          <a:ln/>
        </p:spPr>
      </p:sp>
      <p:sp>
        <p:nvSpPr>
          <p:cNvPr id="5" name="Text 3"/>
          <p:cNvSpPr/>
          <p:nvPr/>
        </p:nvSpPr>
        <p:spPr>
          <a:xfrm>
            <a:off x="804672" y="2112264"/>
            <a:ext cx="2286000" cy="274320"/>
          </a:xfrm>
          <a:prstGeom prst="rect">
            <a:avLst/>
          </a:prstGeom>
          <a:noFill/>
          <a:ln/>
        </p:spPr>
        <p:txBody>
          <a:bodyPr wrap="square" lIns="0" tIns="0" rIns="0" bIns="0" rtlCol="0" anchor="ctr"/>
          <a:lstStyle/>
          <a:p>
            <a:pPr marL="0" indent="0">
              <a:buNone/>
            </a:pPr>
            <a:r>
              <a:rPr lang="en-US" sz="950" b="1" kern="0" spc="50" dirty="0">
                <a:solidFill>
                  <a:srgbClr val="02C39A"/>
                </a:solidFill>
                <a:latin typeface="Calibri" pitchFamily="34" charset="0"/>
                <a:ea typeface="Calibri" pitchFamily="34" charset="-122"/>
                <a:cs typeface="Calibri" pitchFamily="34" charset="-120"/>
              </a:rPr>
              <a:t>ORCHESTRATION</a:t>
            </a:r>
            <a:endParaRPr lang="en-US" sz="950" dirty="0"/>
          </a:p>
        </p:txBody>
      </p:sp>
      <p:sp>
        <p:nvSpPr>
          <p:cNvPr id="6" name="Text 4"/>
          <p:cNvSpPr/>
          <p:nvPr/>
        </p:nvSpPr>
        <p:spPr>
          <a:xfrm>
            <a:off x="804672" y="2404872"/>
            <a:ext cx="2286000"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LangGraph</a:t>
            </a:r>
            <a:endParaRPr lang="en-US" sz="1450" dirty="0"/>
          </a:p>
        </p:txBody>
      </p:sp>
      <p:sp>
        <p:nvSpPr>
          <p:cNvPr id="7" name="Text 5"/>
          <p:cNvSpPr/>
          <p:nvPr/>
        </p:nvSpPr>
        <p:spPr>
          <a:xfrm>
            <a:off x="804672" y="2880360"/>
            <a:ext cx="2286000" cy="713232"/>
          </a:xfrm>
          <a:prstGeom prst="rect">
            <a:avLst/>
          </a:prstGeom>
          <a:noFill/>
          <a:ln/>
        </p:spPr>
        <p:txBody>
          <a:bodyPr wrap="square" lIns="0" tIns="0" rIns="0" bIns="0" rtlCol="0" anchor="ctr"/>
          <a:lstStyle/>
          <a:p>
            <a:pPr marL="0" indent="0">
              <a:lnSpc>
                <a:spcPct val="115000"/>
              </a:lnSpc>
              <a:buNone/>
            </a:pPr>
            <a:r>
              <a:rPr lang="en-US" sz="950" dirty="0">
                <a:solidFill>
                  <a:srgbClr val="CADCFC"/>
                </a:solidFill>
                <a:latin typeface="Calibri" pitchFamily="34" charset="0"/>
                <a:ea typeface="Calibri" pitchFamily="34" charset="-122"/>
                <a:cs typeface="Calibri" pitchFamily="34" charset="-120"/>
              </a:rPr>
              <a:t>Wires all 6 agents into one automated state-machine pipeline</a:t>
            </a:r>
            <a:endParaRPr lang="en-US" sz="950" dirty="0"/>
          </a:p>
        </p:txBody>
      </p:sp>
      <p:sp>
        <p:nvSpPr>
          <p:cNvPr id="8" name="Shape 6"/>
          <p:cNvSpPr/>
          <p:nvPr/>
        </p:nvSpPr>
        <p:spPr>
          <a:xfrm>
            <a:off x="3374136" y="1965960"/>
            <a:ext cx="2615184" cy="1691640"/>
          </a:xfrm>
          <a:prstGeom prst="roundRect">
            <a:avLst>
              <a:gd name="adj" fmla="val 5405"/>
            </a:avLst>
          </a:prstGeom>
          <a:solidFill>
            <a:srgbClr val="1E2761"/>
          </a:solidFill>
          <a:ln/>
        </p:spPr>
      </p:sp>
      <p:sp>
        <p:nvSpPr>
          <p:cNvPr id="9" name="Text 7"/>
          <p:cNvSpPr/>
          <p:nvPr/>
        </p:nvSpPr>
        <p:spPr>
          <a:xfrm>
            <a:off x="3538728" y="2112264"/>
            <a:ext cx="2286000" cy="274320"/>
          </a:xfrm>
          <a:prstGeom prst="rect">
            <a:avLst/>
          </a:prstGeom>
          <a:noFill/>
          <a:ln/>
        </p:spPr>
        <p:txBody>
          <a:bodyPr wrap="square" lIns="0" tIns="0" rIns="0" bIns="0" rtlCol="0" anchor="ctr"/>
          <a:lstStyle/>
          <a:p>
            <a:pPr marL="0" indent="0">
              <a:buNone/>
            </a:pPr>
            <a:r>
              <a:rPr lang="en-US" sz="950" b="1" kern="0" spc="50" dirty="0">
                <a:solidFill>
                  <a:srgbClr val="02C39A"/>
                </a:solidFill>
                <a:latin typeface="Calibri" pitchFamily="34" charset="0"/>
                <a:ea typeface="Calibri" pitchFamily="34" charset="-122"/>
                <a:cs typeface="Calibri" pitchFamily="34" charset="-120"/>
              </a:rPr>
              <a:t>REASONING LLM</a:t>
            </a:r>
            <a:endParaRPr lang="en-US" sz="950" dirty="0"/>
          </a:p>
        </p:txBody>
      </p:sp>
      <p:sp>
        <p:nvSpPr>
          <p:cNvPr id="10" name="Text 8"/>
          <p:cNvSpPr/>
          <p:nvPr/>
        </p:nvSpPr>
        <p:spPr>
          <a:xfrm>
            <a:off x="3538728" y="2404872"/>
            <a:ext cx="2286000"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Claude (Anthropic API)</a:t>
            </a:r>
            <a:endParaRPr lang="en-US" sz="1450" dirty="0"/>
          </a:p>
        </p:txBody>
      </p:sp>
      <p:sp>
        <p:nvSpPr>
          <p:cNvPr id="11" name="Text 9"/>
          <p:cNvSpPr/>
          <p:nvPr/>
        </p:nvSpPr>
        <p:spPr>
          <a:xfrm>
            <a:off x="3538728" y="2880360"/>
            <a:ext cx="2286000" cy="713232"/>
          </a:xfrm>
          <a:prstGeom prst="rect">
            <a:avLst/>
          </a:prstGeom>
          <a:noFill/>
          <a:ln/>
        </p:spPr>
        <p:txBody>
          <a:bodyPr wrap="square" lIns="0" tIns="0" rIns="0" bIns="0" rtlCol="0" anchor="ctr"/>
          <a:lstStyle/>
          <a:p>
            <a:pPr marL="0" indent="0">
              <a:lnSpc>
                <a:spcPct val="115000"/>
              </a:lnSpc>
              <a:buNone/>
            </a:pPr>
            <a:r>
              <a:rPr lang="en-US" sz="950" dirty="0">
                <a:solidFill>
                  <a:srgbClr val="CADCFC"/>
                </a:solidFill>
                <a:latin typeface="Calibri" pitchFamily="34" charset="0"/>
                <a:ea typeface="Calibri" pitchFamily="34" charset="-122"/>
                <a:cs typeface="Calibri" pitchFamily="34" charset="-120"/>
              </a:rPr>
              <a:t>Grounded diagnosis, confidence scoring, plain-language explanation</a:t>
            </a:r>
            <a:endParaRPr lang="en-US" sz="950" dirty="0"/>
          </a:p>
        </p:txBody>
      </p:sp>
      <p:sp>
        <p:nvSpPr>
          <p:cNvPr id="12" name="Shape 10"/>
          <p:cNvSpPr/>
          <p:nvPr/>
        </p:nvSpPr>
        <p:spPr>
          <a:xfrm>
            <a:off x="6108192" y="1965960"/>
            <a:ext cx="2615184" cy="1691640"/>
          </a:xfrm>
          <a:prstGeom prst="roundRect">
            <a:avLst>
              <a:gd name="adj" fmla="val 5405"/>
            </a:avLst>
          </a:prstGeom>
          <a:solidFill>
            <a:srgbClr val="1E2761"/>
          </a:solidFill>
          <a:ln/>
        </p:spPr>
      </p:sp>
      <p:sp>
        <p:nvSpPr>
          <p:cNvPr id="13" name="Text 11"/>
          <p:cNvSpPr/>
          <p:nvPr/>
        </p:nvSpPr>
        <p:spPr>
          <a:xfrm>
            <a:off x="6272784" y="2112264"/>
            <a:ext cx="2286000" cy="274320"/>
          </a:xfrm>
          <a:prstGeom prst="rect">
            <a:avLst/>
          </a:prstGeom>
          <a:noFill/>
          <a:ln/>
        </p:spPr>
        <p:txBody>
          <a:bodyPr wrap="square" lIns="0" tIns="0" rIns="0" bIns="0" rtlCol="0" anchor="ctr"/>
          <a:lstStyle/>
          <a:p>
            <a:pPr marL="0" indent="0">
              <a:buNone/>
            </a:pPr>
            <a:r>
              <a:rPr lang="en-US" sz="950" b="1" kern="0" spc="50" dirty="0">
                <a:solidFill>
                  <a:srgbClr val="02C39A"/>
                </a:solidFill>
                <a:latin typeface="Calibri" pitchFamily="34" charset="0"/>
                <a:ea typeface="Calibri" pitchFamily="34" charset="-122"/>
                <a:cs typeface="Calibri" pitchFamily="34" charset="-120"/>
              </a:rPr>
              <a:t>VECTOR STORE / RAG</a:t>
            </a:r>
            <a:endParaRPr lang="en-US" sz="950" dirty="0"/>
          </a:p>
        </p:txBody>
      </p:sp>
      <p:sp>
        <p:nvSpPr>
          <p:cNvPr id="14" name="Text 12"/>
          <p:cNvSpPr/>
          <p:nvPr/>
        </p:nvSpPr>
        <p:spPr>
          <a:xfrm>
            <a:off x="6272784" y="2404872"/>
            <a:ext cx="2286000"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ChromaDB</a:t>
            </a:r>
            <a:endParaRPr lang="en-US" sz="1450" dirty="0"/>
          </a:p>
        </p:txBody>
      </p:sp>
      <p:sp>
        <p:nvSpPr>
          <p:cNvPr id="15" name="Text 13"/>
          <p:cNvSpPr/>
          <p:nvPr/>
        </p:nvSpPr>
        <p:spPr>
          <a:xfrm>
            <a:off x="6272784" y="2880360"/>
            <a:ext cx="2286000" cy="713232"/>
          </a:xfrm>
          <a:prstGeom prst="rect">
            <a:avLst/>
          </a:prstGeom>
          <a:noFill/>
          <a:ln/>
        </p:spPr>
        <p:txBody>
          <a:bodyPr wrap="square" lIns="0" tIns="0" rIns="0" bIns="0" rtlCol="0" anchor="ctr"/>
          <a:lstStyle/>
          <a:p>
            <a:pPr marL="0" indent="0">
              <a:lnSpc>
                <a:spcPct val="115000"/>
              </a:lnSpc>
              <a:buNone/>
            </a:pPr>
            <a:r>
              <a:rPr lang="en-US" sz="950" dirty="0">
                <a:solidFill>
                  <a:srgbClr val="CADCFC"/>
                </a:solidFill>
                <a:latin typeface="Calibri" pitchFamily="34" charset="0"/>
                <a:ea typeface="Calibri" pitchFamily="34" charset="-122"/>
                <a:cs typeface="Calibri" pitchFamily="34" charset="-120"/>
              </a:rPr>
              <a:t>761-case Knowledge Library; structured + semantic retrieval</a:t>
            </a:r>
            <a:endParaRPr lang="en-US" sz="950" dirty="0"/>
          </a:p>
        </p:txBody>
      </p:sp>
      <p:sp>
        <p:nvSpPr>
          <p:cNvPr id="16" name="Shape 14"/>
          <p:cNvSpPr/>
          <p:nvPr/>
        </p:nvSpPr>
        <p:spPr>
          <a:xfrm>
            <a:off x="8842248" y="1965960"/>
            <a:ext cx="2615184" cy="1691640"/>
          </a:xfrm>
          <a:prstGeom prst="roundRect">
            <a:avLst>
              <a:gd name="adj" fmla="val 5405"/>
            </a:avLst>
          </a:prstGeom>
          <a:solidFill>
            <a:srgbClr val="1E2761"/>
          </a:solidFill>
          <a:ln/>
        </p:spPr>
      </p:sp>
      <p:sp>
        <p:nvSpPr>
          <p:cNvPr id="17" name="Text 15"/>
          <p:cNvSpPr/>
          <p:nvPr/>
        </p:nvSpPr>
        <p:spPr>
          <a:xfrm>
            <a:off x="9006840" y="2112264"/>
            <a:ext cx="2286000" cy="274320"/>
          </a:xfrm>
          <a:prstGeom prst="rect">
            <a:avLst/>
          </a:prstGeom>
          <a:noFill/>
          <a:ln/>
        </p:spPr>
        <p:txBody>
          <a:bodyPr wrap="square" lIns="0" tIns="0" rIns="0" bIns="0" rtlCol="0" anchor="ctr"/>
          <a:lstStyle/>
          <a:p>
            <a:pPr marL="0" indent="0">
              <a:buNone/>
            </a:pPr>
            <a:r>
              <a:rPr lang="en-US" sz="950" b="1" kern="0" spc="50" dirty="0">
                <a:solidFill>
                  <a:srgbClr val="02C39A"/>
                </a:solidFill>
                <a:latin typeface="Calibri" pitchFamily="34" charset="0"/>
                <a:ea typeface="Calibri" pitchFamily="34" charset="-122"/>
                <a:cs typeface="Calibri" pitchFamily="34" charset="-120"/>
              </a:rPr>
              <a:t>ML / STATISTICS</a:t>
            </a:r>
            <a:endParaRPr lang="en-US" sz="950" dirty="0"/>
          </a:p>
        </p:txBody>
      </p:sp>
      <p:sp>
        <p:nvSpPr>
          <p:cNvPr id="18" name="Text 16"/>
          <p:cNvSpPr/>
          <p:nvPr/>
        </p:nvSpPr>
        <p:spPr>
          <a:xfrm>
            <a:off x="9006840" y="2404872"/>
            <a:ext cx="2286000"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pandas, scikit-learn</a:t>
            </a:r>
            <a:endParaRPr lang="en-US" sz="1450" dirty="0"/>
          </a:p>
        </p:txBody>
      </p:sp>
      <p:sp>
        <p:nvSpPr>
          <p:cNvPr id="19" name="Text 17"/>
          <p:cNvSpPr/>
          <p:nvPr/>
        </p:nvSpPr>
        <p:spPr>
          <a:xfrm>
            <a:off x="9006840" y="2880360"/>
            <a:ext cx="2286000" cy="713232"/>
          </a:xfrm>
          <a:prstGeom prst="rect">
            <a:avLst/>
          </a:prstGeom>
          <a:noFill/>
          <a:ln/>
        </p:spPr>
        <p:txBody>
          <a:bodyPr wrap="square" lIns="0" tIns="0" rIns="0" bIns="0" rtlCol="0" anchor="ctr"/>
          <a:lstStyle/>
          <a:p>
            <a:pPr marL="0" indent="0">
              <a:lnSpc>
                <a:spcPct val="115000"/>
              </a:lnSpc>
              <a:buNone/>
            </a:pPr>
            <a:r>
              <a:rPr lang="en-US" sz="950" dirty="0">
                <a:solidFill>
                  <a:srgbClr val="CADCFC"/>
                </a:solidFill>
                <a:latin typeface="Calibri" pitchFamily="34" charset="0"/>
                <a:ea typeface="Calibri" pitchFamily="34" charset="-122"/>
                <a:cs typeface="Calibri" pitchFamily="34" charset="-120"/>
              </a:rPr>
              <a:t>Health scoring, MTBF stats, logistic-regression weight learning</a:t>
            </a:r>
            <a:endParaRPr lang="en-US" sz="950" dirty="0"/>
          </a:p>
        </p:txBody>
      </p:sp>
      <p:sp>
        <p:nvSpPr>
          <p:cNvPr id="20" name="Shape 18"/>
          <p:cNvSpPr/>
          <p:nvPr/>
        </p:nvSpPr>
        <p:spPr>
          <a:xfrm>
            <a:off x="640080" y="3822192"/>
            <a:ext cx="2615184" cy="1691640"/>
          </a:xfrm>
          <a:prstGeom prst="roundRect">
            <a:avLst>
              <a:gd name="adj" fmla="val 5405"/>
            </a:avLst>
          </a:prstGeom>
          <a:solidFill>
            <a:srgbClr val="F4F6FB"/>
          </a:solidFill>
          <a:ln/>
        </p:spPr>
      </p:sp>
      <p:sp>
        <p:nvSpPr>
          <p:cNvPr id="21" name="Text 19"/>
          <p:cNvSpPr/>
          <p:nvPr/>
        </p:nvSpPr>
        <p:spPr>
          <a:xfrm>
            <a:off x="804672" y="3968496"/>
            <a:ext cx="2286000" cy="274320"/>
          </a:xfrm>
          <a:prstGeom prst="rect">
            <a:avLst/>
          </a:prstGeom>
          <a:noFill/>
          <a:ln/>
        </p:spPr>
        <p:txBody>
          <a:bodyPr wrap="square" lIns="0" tIns="0" rIns="0" bIns="0" rtlCol="0" anchor="ctr"/>
          <a:lstStyle/>
          <a:p>
            <a:pPr marL="0" indent="0">
              <a:buNone/>
            </a:pPr>
            <a:r>
              <a:rPr lang="en-US" sz="950" b="1" kern="0" spc="50" dirty="0">
                <a:solidFill>
                  <a:srgbClr val="02C39A"/>
                </a:solidFill>
                <a:latin typeface="Calibri" pitchFamily="34" charset="0"/>
                <a:ea typeface="Calibri" pitchFamily="34" charset="-122"/>
                <a:cs typeface="Calibri" pitchFamily="34" charset="-120"/>
              </a:rPr>
              <a:t>BACKEND API</a:t>
            </a:r>
            <a:endParaRPr lang="en-US" sz="950" dirty="0"/>
          </a:p>
        </p:txBody>
      </p:sp>
      <p:sp>
        <p:nvSpPr>
          <p:cNvPr id="22" name="Text 20"/>
          <p:cNvSpPr/>
          <p:nvPr/>
        </p:nvSpPr>
        <p:spPr>
          <a:xfrm>
            <a:off x="804672" y="4261104"/>
            <a:ext cx="2286000" cy="457200"/>
          </a:xfrm>
          <a:prstGeom prst="rect">
            <a:avLst/>
          </a:prstGeom>
          <a:noFill/>
          <a:ln/>
        </p:spPr>
        <p:txBody>
          <a:bodyPr wrap="square" lIns="0" tIns="0" rIns="0" bIns="0" rtlCol="0" anchor="ctr"/>
          <a:lstStyle/>
          <a:p>
            <a:pPr marL="0" indent="0">
              <a:buNone/>
            </a:pPr>
            <a:r>
              <a:rPr lang="en-US" sz="1450" b="1" dirty="0">
                <a:solidFill>
                  <a:srgbClr val="1C1C28"/>
                </a:solidFill>
                <a:latin typeface="Calibri" pitchFamily="34" charset="0"/>
                <a:ea typeface="Calibri" pitchFamily="34" charset="-122"/>
                <a:cs typeface="Calibri" pitchFamily="34" charset="-120"/>
              </a:rPr>
              <a:t>FastAPI</a:t>
            </a:r>
            <a:endParaRPr lang="en-US" sz="1450" dirty="0"/>
          </a:p>
        </p:txBody>
      </p:sp>
      <p:sp>
        <p:nvSpPr>
          <p:cNvPr id="23" name="Text 21"/>
          <p:cNvSpPr/>
          <p:nvPr/>
        </p:nvSpPr>
        <p:spPr>
          <a:xfrm>
            <a:off x="804672" y="4736592"/>
            <a:ext cx="2286000" cy="713232"/>
          </a:xfrm>
          <a:prstGeom prst="rect">
            <a:avLst/>
          </a:prstGeom>
          <a:noFill/>
          <a:ln/>
        </p:spPr>
        <p:txBody>
          <a:bodyPr wrap="square" lIns="0" tIns="0" rIns="0" bIns="0" rtlCol="0" anchor="ctr"/>
          <a:lstStyle/>
          <a:p>
            <a:pPr marL="0" indent="0">
              <a:lnSpc>
                <a:spcPct val="115000"/>
              </a:lnSpc>
              <a:buNone/>
            </a:pPr>
            <a:r>
              <a:rPr lang="en-US" sz="950" dirty="0">
                <a:solidFill>
                  <a:srgbClr val="6B6F85"/>
                </a:solidFill>
                <a:latin typeface="Calibri" pitchFamily="34" charset="0"/>
                <a:ea typeface="Calibri" pitchFamily="34" charset="-122"/>
                <a:cs typeface="Calibri" pitchFamily="34" charset="-120"/>
              </a:rPr>
              <a:t>Serves the pipeline as web endpoints for the dashboard</a:t>
            </a:r>
            <a:endParaRPr lang="en-US" sz="950" dirty="0"/>
          </a:p>
        </p:txBody>
      </p:sp>
      <p:sp>
        <p:nvSpPr>
          <p:cNvPr id="24" name="Shape 22"/>
          <p:cNvSpPr/>
          <p:nvPr/>
        </p:nvSpPr>
        <p:spPr>
          <a:xfrm>
            <a:off x="3374136" y="3822192"/>
            <a:ext cx="2615184" cy="1691640"/>
          </a:xfrm>
          <a:prstGeom prst="roundRect">
            <a:avLst>
              <a:gd name="adj" fmla="val 5405"/>
            </a:avLst>
          </a:prstGeom>
          <a:solidFill>
            <a:srgbClr val="F4F6FB"/>
          </a:solidFill>
          <a:ln/>
        </p:spPr>
      </p:sp>
      <p:sp>
        <p:nvSpPr>
          <p:cNvPr id="25" name="Text 23"/>
          <p:cNvSpPr/>
          <p:nvPr/>
        </p:nvSpPr>
        <p:spPr>
          <a:xfrm>
            <a:off x="3538728" y="3968496"/>
            <a:ext cx="2286000" cy="274320"/>
          </a:xfrm>
          <a:prstGeom prst="rect">
            <a:avLst/>
          </a:prstGeom>
          <a:noFill/>
          <a:ln/>
        </p:spPr>
        <p:txBody>
          <a:bodyPr wrap="square" lIns="0" tIns="0" rIns="0" bIns="0" rtlCol="0" anchor="ctr"/>
          <a:lstStyle/>
          <a:p>
            <a:pPr marL="0" indent="0">
              <a:buNone/>
            </a:pPr>
            <a:r>
              <a:rPr lang="en-US" sz="950" b="1" kern="0" spc="50" dirty="0">
                <a:solidFill>
                  <a:srgbClr val="02C39A"/>
                </a:solidFill>
                <a:latin typeface="Calibri" pitchFamily="34" charset="0"/>
                <a:ea typeface="Calibri" pitchFamily="34" charset="-122"/>
                <a:cs typeface="Calibri" pitchFamily="34" charset="-120"/>
              </a:rPr>
              <a:t>FRONTEND</a:t>
            </a:r>
            <a:endParaRPr lang="en-US" sz="950" dirty="0"/>
          </a:p>
        </p:txBody>
      </p:sp>
      <p:sp>
        <p:nvSpPr>
          <p:cNvPr id="26" name="Text 24"/>
          <p:cNvSpPr/>
          <p:nvPr/>
        </p:nvSpPr>
        <p:spPr>
          <a:xfrm>
            <a:off x="3538728" y="4261104"/>
            <a:ext cx="2286000" cy="457200"/>
          </a:xfrm>
          <a:prstGeom prst="rect">
            <a:avLst/>
          </a:prstGeom>
          <a:noFill/>
          <a:ln/>
        </p:spPr>
        <p:txBody>
          <a:bodyPr wrap="square" lIns="0" tIns="0" rIns="0" bIns="0" rtlCol="0" anchor="ctr"/>
          <a:lstStyle/>
          <a:p>
            <a:pPr marL="0" indent="0">
              <a:buNone/>
            </a:pPr>
            <a:r>
              <a:rPr lang="en-US" sz="1450" b="1" dirty="0">
                <a:solidFill>
                  <a:srgbClr val="1C1C28"/>
                </a:solidFill>
                <a:latin typeface="Calibri" pitchFamily="34" charset="0"/>
                <a:ea typeface="Calibri" pitchFamily="34" charset="-122"/>
                <a:cs typeface="Calibri" pitchFamily="34" charset="-120"/>
              </a:rPr>
              <a:t>React + Vite</a:t>
            </a:r>
            <a:endParaRPr lang="en-US" sz="1450" dirty="0"/>
          </a:p>
        </p:txBody>
      </p:sp>
      <p:sp>
        <p:nvSpPr>
          <p:cNvPr id="27" name="Text 25"/>
          <p:cNvSpPr/>
          <p:nvPr/>
        </p:nvSpPr>
        <p:spPr>
          <a:xfrm>
            <a:off x="3538728" y="4736592"/>
            <a:ext cx="2286000" cy="713232"/>
          </a:xfrm>
          <a:prstGeom prst="rect">
            <a:avLst/>
          </a:prstGeom>
          <a:noFill/>
          <a:ln/>
        </p:spPr>
        <p:txBody>
          <a:bodyPr wrap="square" lIns="0" tIns="0" rIns="0" bIns="0" rtlCol="0" anchor="ctr"/>
          <a:lstStyle/>
          <a:p>
            <a:pPr marL="0" indent="0">
              <a:lnSpc>
                <a:spcPct val="115000"/>
              </a:lnSpc>
              <a:buNone/>
            </a:pPr>
            <a:r>
              <a:rPr lang="en-US" sz="950" dirty="0">
                <a:solidFill>
                  <a:srgbClr val="6B6F85"/>
                </a:solidFill>
                <a:latin typeface="Calibri" pitchFamily="34" charset="0"/>
                <a:ea typeface="Calibri" pitchFamily="34" charset="-122"/>
                <a:cs typeface="Calibri" pitchFamily="34" charset="-120"/>
              </a:rPr>
              <a:t>Date-based ranked risk list, full diagnosis on click</a:t>
            </a:r>
            <a:endParaRPr lang="en-US" sz="950" dirty="0"/>
          </a:p>
        </p:txBody>
      </p:sp>
      <p:sp>
        <p:nvSpPr>
          <p:cNvPr id="28" name="Shape 26"/>
          <p:cNvSpPr/>
          <p:nvPr/>
        </p:nvSpPr>
        <p:spPr>
          <a:xfrm>
            <a:off x="6108192" y="3822192"/>
            <a:ext cx="2615184" cy="1691640"/>
          </a:xfrm>
          <a:prstGeom prst="roundRect">
            <a:avLst>
              <a:gd name="adj" fmla="val 5405"/>
            </a:avLst>
          </a:prstGeom>
          <a:solidFill>
            <a:srgbClr val="F4F6FB"/>
          </a:solidFill>
          <a:ln/>
        </p:spPr>
      </p:sp>
      <p:sp>
        <p:nvSpPr>
          <p:cNvPr id="29" name="Text 27"/>
          <p:cNvSpPr/>
          <p:nvPr/>
        </p:nvSpPr>
        <p:spPr>
          <a:xfrm>
            <a:off x="6272784" y="3968496"/>
            <a:ext cx="2286000" cy="274320"/>
          </a:xfrm>
          <a:prstGeom prst="rect">
            <a:avLst/>
          </a:prstGeom>
          <a:noFill/>
          <a:ln/>
        </p:spPr>
        <p:txBody>
          <a:bodyPr wrap="square" lIns="0" tIns="0" rIns="0" bIns="0" rtlCol="0" anchor="ctr"/>
          <a:lstStyle/>
          <a:p>
            <a:pPr marL="0" indent="0">
              <a:buNone/>
            </a:pPr>
            <a:r>
              <a:rPr lang="en-US" sz="950" b="1" kern="0" spc="50" dirty="0">
                <a:solidFill>
                  <a:srgbClr val="02C39A"/>
                </a:solidFill>
                <a:latin typeface="Calibri" pitchFamily="34" charset="0"/>
                <a:ea typeface="Calibri" pitchFamily="34" charset="-122"/>
                <a:cs typeface="Calibri" pitchFamily="34" charset="-120"/>
              </a:rPr>
              <a:t>RAPID PROTOTYPING UI</a:t>
            </a:r>
            <a:endParaRPr lang="en-US" sz="950" dirty="0"/>
          </a:p>
        </p:txBody>
      </p:sp>
      <p:sp>
        <p:nvSpPr>
          <p:cNvPr id="30" name="Text 28"/>
          <p:cNvSpPr/>
          <p:nvPr/>
        </p:nvSpPr>
        <p:spPr>
          <a:xfrm>
            <a:off x="6272784" y="4261104"/>
            <a:ext cx="2286000" cy="457200"/>
          </a:xfrm>
          <a:prstGeom prst="rect">
            <a:avLst/>
          </a:prstGeom>
          <a:noFill/>
          <a:ln/>
        </p:spPr>
        <p:txBody>
          <a:bodyPr wrap="square" lIns="0" tIns="0" rIns="0" bIns="0" rtlCol="0" anchor="ctr"/>
          <a:lstStyle/>
          <a:p>
            <a:pPr marL="0" indent="0">
              <a:buNone/>
            </a:pPr>
            <a:r>
              <a:rPr lang="en-US" sz="1450" b="1" dirty="0">
                <a:solidFill>
                  <a:srgbClr val="1C1C28"/>
                </a:solidFill>
                <a:latin typeface="Calibri" pitchFamily="34" charset="0"/>
                <a:ea typeface="Calibri" pitchFamily="34" charset="-122"/>
                <a:cs typeface="Calibri" pitchFamily="34" charset="-120"/>
              </a:rPr>
              <a:t>Streamlit</a:t>
            </a:r>
            <a:endParaRPr lang="en-US" sz="1450" dirty="0"/>
          </a:p>
        </p:txBody>
      </p:sp>
      <p:sp>
        <p:nvSpPr>
          <p:cNvPr id="31" name="Text 29"/>
          <p:cNvSpPr/>
          <p:nvPr/>
        </p:nvSpPr>
        <p:spPr>
          <a:xfrm>
            <a:off x="6272784" y="4736592"/>
            <a:ext cx="2286000" cy="713232"/>
          </a:xfrm>
          <a:prstGeom prst="rect">
            <a:avLst/>
          </a:prstGeom>
          <a:noFill/>
          <a:ln/>
        </p:spPr>
        <p:txBody>
          <a:bodyPr wrap="square" lIns="0" tIns="0" rIns="0" bIns="0" rtlCol="0" anchor="ctr"/>
          <a:lstStyle/>
          <a:p>
            <a:pPr marL="0" indent="0">
              <a:lnSpc>
                <a:spcPct val="115000"/>
              </a:lnSpc>
              <a:buNone/>
            </a:pPr>
            <a:r>
              <a:rPr lang="en-US" sz="950" dirty="0">
                <a:solidFill>
                  <a:srgbClr val="6B6F85"/>
                </a:solidFill>
                <a:latin typeface="Calibri" pitchFamily="34" charset="0"/>
                <a:ea typeface="Calibri" pitchFamily="34" charset="-122"/>
                <a:cs typeface="Calibri" pitchFamily="34" charset="-120"/>
              </a:rPr>
              <a:t>Backup single-file demo interface</a:t>
            </a:r>
            <a:endParaRPr lang="en-US" sz="950" dirty="0"/>
          </a:p>
        </p:txBody>
      </p:sp>
      <p:sp>
        <p:nvSpPr>
          <p:cNvPr id="32" name="Shape 30"/>
          <p:cNvSpPr/>
          <p:nvPr/>
        </p:nvSpPr>
        <p:spPr>
          <a:xfrm>
            <a:off x="8842248" y="3822192"/>
            <a:ext cx="2615184" cy="1691640"/>
          </a:xfrm>
          <a:prstGeom prst="roundRect">
            <a:avLst>
              <a:gd name="adj" fmla="val 5405"/>
            </a:avLst>
          </a:prstGeom>
          <a:solidFill>
            <a:srgbClr val="F4F6FB"/>
          </a:solidFill>
          <a:ln/>
        </p:spPr>
      </p:sp>
      <p:sp>
        <p:nvSpPr>
          <p:cNvPr id="33" name="Text 31"/>
          <p:cNvSpPr/>
          <p:nvPr/>
        </p:nvSpPr>
        <p:spPr>
          <a:xfrm>
            <a:off x="9006840" y="3968496"/>
            <a:ext cx="2286000" cy="274320"/>
          </a:xfrm>
          <a:prstGeom prst="rect">
            <a:avLst/>
          </a:prstGeom>
          <a:noFill/>
          <a:ln/>
        </p:spPr>
        <p:txBody>
          <a:bodyPr wrap="square" lIns="0" tIns="0" rIns="0" bIns="0" rtlCol="0" anchor="ctr"/>
          <a:lstStyle/>
          <a:p>
            <a:pPr marL="0" indent="0">
              <a:buNone/>
            </a:pPr>
            <a:r>
              <a:rPr lang="en-US" sz="950" b="1" kern="0" spc="50" dirty="0">
                <a:solidFill>
                  <a:srgbClr val="02C39A"/>
                </a:solidFill>
                <a:latin typeface="Calibri" pitchFamily="34" charset="0"/>
                <a:ea typeface="Calibri" pitchFamily="34" charset="-122"/>
                <a:cs typeface="Calibri" pitchFamily="34" charset="-120"/>
              </a:rPr>
              <a:t>VERSION CONTROL</a:t>
            </a:r>
            <a:endParaRPr lang="en-US" sz="950" dirty="0"/>
          </a:p>
        </p:txBody>
      </p:sp>
      <p:sp>
        <p:nvSpPr>
          <p:cNvPr id="34" name="Text 32"/>
          <p:cNvSpPr/>
          <p:nvPr/>
        </p:nvSpPr>
        <p:spPr>
          <a:xfrm>
            <a:off x="9006840" y="4261104"/>
            <a:ext cx="2286000" cy="457200"/>
          </a:xfrm>
          <a:prstGeom prst="rect">
            <a:avLst/>
          </a:prstGeom>
          <a:noFill/>
          <a:ln/>
        </p:spPr>
        <p:txBody>
          <a:bodyPr wrap="square" lIns="0" tIns="0" rIns="0" bIns="0" rtlCol="0" anchor="ctr"/>
          <a:lstStyle/>
          <a:p>
            <a:pPr marL="0" indent="0">
              <a:buNone/>
            </a:pPr>
            <a:r>
              <a:rPr lang="en-US" sz="1450" b="1" dirty="0">
                <a:solidFill>
                  <a:srgbClr val="1C1C28"/>
                </a:solidFill>
                <a:latin typeface="Calibri" pitchFamily="34" charset="0"/>
                <a:ea typeface="Calibri" pitchFamily="34" charset="-122"/>
                <a:cs typeface="Calibri" pitchFamily="34" charset="-120"/>
              </a:rPr>
              <a:t>Git + GitHub</a:t>
            </a:r>
            <a:endParaRPr lang="en-US" sz="1450" dirty="0"/>
          </a:p>
        </p:txBody>
      </p:sp>
      <p:sp>
        <p:nvSpPr>
          <p:cNvPr id="35" name="Text 33"/>
          <p:cNvSpPr/>
          <p:nvPr/>
        </p:nvSpPr>
        <p:spPr>
          <a:xfrm>
            <a:off x="9006840" y="4736592"/>
            <a:ext cx="2286000" cy="713232"/>
          </a:xfrm>
          <a:prstGeom prst="rect">
            <a:avLst/>
          </a:prstGeom>
          <a:noFill/>
          <a:ln/>
        </p:spPr>
        <p:txBody>
          <a:bodyPr wrap="square" lIns="0" tIns="0" rIns="0" bIns="0" rtlCol="0" anchor="ctr"/>
          <a:lstStyle/>
          <a:p>
            <a:pPr marL="0" indent="0">
              <a:lnSpc>
                <a:spcPct val="115000"/>
              </a:lnSpc>
              <a:buNone/>
            </a:pPr>
            <a:r>
              <a:rPr lang="en-US" sz="950" dirty="0">
                <a:solidFill>
                  <a:srgbClr val="6B6F85"/>
                </a:solidFill>
                <a:latin typeface="Calibri" pitchFamily="34" charset="0"/>
                <a:ea typeface="Calibri" pitchFamily="34" charset="-122"/>
                <a:cs typeface="Calibri" pitchFamily="34" charset="-120"/>
              </a:rPr>
              <a:t>Full commit history — every fix and finding traceable</a:t>
            </a:r>
            <a:endParaRPr lang="en-US" sz="950" dirty="0"/>
          </a:p>
        </p:txBody>
      </p:sp>
      <p:sp>
        <p:nvSpPr>
          <p:cNvPr id="36" name="Text 34"/>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6B6F85"/>
                </a:solidFill>
                <a:latin typeface="Calibri" pitchFamily="34" charset="0"/>
                <a:ea typeface="Calibri" pitchFamily="34" charset="-122"/>
                <a:cs typeface="Calibri" pitchFamily="34" charset="-120"/>
              </a:rPr>
              <a:t>Agentic AI Predictive Maintenance</a:t>
            </a:r>
            <a:endParaRPr lang="en-US" sz="1000" dirty="0"/>
          </a:p>
        </p:txBody>
      </p:sp>
      <p:sp>
        <p:nvSpPr>
          <p:cNvPr id="37" name="Text 3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6F8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100" dirty="0">
                <a:solidFill>
                  <a:srgbClr val="02C39A"/>
                </a:solidFill>
                <a:latin typeface="Calibri" pitchFamily="34" charset="0"/>
                <a:ea typeface="Calibri" pitchFamily="34" charset="-122"/>
                <a:cs typeface="Calibri" pitchFamily="34" charset="-120"/>
              </a:rPr>
              <a:t>VALIDATION  ·  NOT A SIMULATED DEMO</a:t>
            </a:r>
            <a:endParaRPr lang="en-US" sz="1200" dirty="0"/>
          </a:p>
        </p:txBody>
      </p:sp>
      <p:sp>
        <p:nvSpPr>
          <p:cNvPr id="3" name="Text 1"/>
          <p:cNvSpPr/>
          <p:nvPr/>
        </p:nvSpPr>
        <p:spPr>
          <a:xfrm>
            <a:off x="640080" y="82296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Backtested against real recorded failures</a:t>
            </a:r>
            <a:endParaRPr lang="en-US" sz="2800" dirty="0"/>
          </a:p>
        </p:txBody>
      </p:sp>
      <p:sp>
        <p:nvSpPr>
          <p:cNvPr id="4" name="Text 2"/>
          <p:cNvSpPr/>
          <p:nvPr/>
        </p:nvSpPr>
        <p:spPr>
          <a:xfrm>
            <a:off x="640080" y="1481328"/>
            <a:ext cx="10515600" cy="457200"/>
          </a:xfrm>
          <a:prstGeom prst="rect">
            <a:avLst/>
          </a:prstGeom>
          <a:noFill/>
          <a:ln/>
        </p:spPr>
        <p:txBody>
          <a:bodyPr wrap="square" lIns="0" tIns="0" rIns="0" bIns="0" rtlCol="0" anchor="ctr"/>
          <a:lstStyle/>
          <a:p>
            <a:pPr marL="0" indent="0">
              <a:lnSpc>
                <a:spcPct val="125000"/>
              </a:lnSpc>
              <a:buNone/>
            </a:pPr>
            <a:r>
              <a:rPr lang="en-US" sz="1300" dirty="0">
                <a:solidFill>
                  <a:srgbClr val="CADCFC"/>
                </a:solidFill>
                <a:latin typeface="Calibri" pitchFamily="34" charset="0"/>
                <a:ea typeface="Calibri" pitchFamily="34" charset="-122"/>
                <a:cs typeface="Calibri" pitchFamily="34" charset="-120"/>
              </a:rPr>
              <a:t>Health-scoring tool tested on 740 real failures + 300 genuinely healthy periods — 1,040 real cases, zero simulated inputs.</a:t>
            </a:r>
            <a:endParaRPr lang="en-US" sz="1300" dirty="0"/>
          </a:p>
        </p:txBody>
      </p:sp>
      <p:sp>
        <p:nvSpPr>
          <p:cNvPr id="5" name="Shape 3"/>
          <p:cNvSpPr/>
          <p:nvPr/>
        </p:nvSpPr>
        <p:spPr>
          <a:xfrm>
            <a:off x="640080" y="2331720"/>
            <a:ext cx="2514600" cy="1965960"/>
          </a:xfrm>
          <a:prstGeom prst="roundRect">
            <a:avLst>
              <a:gd name="adj" fmla="val 5581"/>
            </a:avLst>
          </a:prstGeom>
          <a:solidFill>
            <a:srgbClr val="02C39A"/>
          </a:solidFill>
          <a:ln/>
        </p:spPr>
      </p:sp>
      <p:sp>
        <p:nvSpPr>
          <p:cNvPr id="6" name="Text 4"/>
          <p:cNvSpPr/>
          <p:nvPr/>
        </p:nvSpPr>
        <p:spPr>
          <a:xfrm>
            <a:off x="777240" y="2532888"/>
            <a:ext cx="2240280" cy="73152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94.7%</a:t>
            </a:r>
            <a:endParaRPr lang="en-US" sz="3400" dirty="0"/>
          </a:p>
        </p:txBody>
      </p:sp>
      <p:sp>
        <p:nvSpPr>
          <p:cNvPr id="7" name="Text 5"/>
          <p:cNvSpPr/>
          <p:nvPr/>
        </p:nvSpPr>
        <p:spPr>
          <a:xfrm>
            <a:off x="777240" y="3246120"/>
            <a:ext cx="2240280" cy="274320"/>
          </a:xfrm>
          <a:prstGeom prst="rect">
            <a:avLst/>
          </a:prstGeom>
          <a:noFill/>
          <a:ln/>
        </p:spPr>
        <p:txBody>
          <a:bodyPr wrap="square" lIns="0" tIns="0" rIns="0" bIns="0" rtlCol="0" anchor="ctr"/>
          <a:lstStyle/>
          <a:p>
            <a:pPr marL="0" indent="0">
              <a:buNone/>
            </a:pPr>
            <a:r>
              <a:rPr lang="en-US" sz="1050" b="1" kern="0" spc="50" dirty="0">
                <a:solidFill>
                  <a:srgbClr val="0B4D3C"/>
                </a:solidFill>
                <a:latin typeface="Calibri" pitchFamily="34" charset="0"/>
                <a:ea typeface="Calibri" pitchFamily="34" charset="-122"/>
                <a:cs typeface="Calibri" pitchFamily="34" charset="-120"/>
              </a:rPr>
              <a:t>RECALL</a:t>
            </a:r>
            <a:endParaRPr lang="en-US" sz="1050" dirty="0"/>
          </a:p>
        </p:txBody>
      </p:sp>
      <p:sp>
        <p:nvSpPr>
          <p:cNvPr id="8" name="Text 6"/>
          <p:cNvSpPr/>
          <p:nvPr/>
        </p:nvSpPr>
        <p:spPr>
          <a:xfrm>
            <a:off x="777240" y="3538728"/>
            <a:ext cx="2240280" cy="713232"/>
          </a:xfrm>
          <a:prstGeom prst="rect">
            <a:avLst/>
          </a:prstGeom>
          <a:noFill/>
          <a:ln/>
        </p:spPr>
        <p:txBody>
          <a:bodyPr wrap="square" lIns="0" tIns="0" rIns="0" bIns="0" rtlCol="0" anchor="ctr"/>
          <a:lstStyle/>
          <a:p>
            <a:pPr marL="0" indent="0">
              <a:lnSpc>
                <a:spcPct val="115000"/>
              </a:lnSpc>
              <a:buNone/>
            </a:pPr>
            <a:r>
              <a:rPr lang="en-US" sz="950" dirty="0">
                <a:solidFill>
                  <a:srgbClr val="0B4D3C"/>
                </a:solidFill>
                <a:latin typeface="Calibri" pitchFamily="34" charset="0"/>
                <a:ea typeface="Calibri" pitchFamily="34" charset="-122"/>
                <a:cs typeface="Calibri" pitchFamily="34" charset="-120"/>
              </a:rPr>
              <a:t>Catches nearly all real failures with 24h advance warning</a:t>
            </a:r>
            <a:endParaRPr lang="en-US" sz="950" dirty="0"/>
          </a:p>
        </p:txBody>
      </p:sp>
      <p:sp>
        <p:nvSpPr>
          <p:cNvPr id="9" name="Shape 7"/>
          <p:cNvSpPr/>
          <p:nvPr/>
        </p:nvSpPr>
        <p:spPr>
          <a:xfrm>
            <a:off x="3355848" y="2331720"/>
            <a:ext cx="2514600" cy="1965960"/>
          </a:xfrm>
          <a:prstGeom prst="roundRect">
            <a:avLst>
              <a:gd name="adj" fmla="val 5581"/>
            </a:avLst>
          </a:prstGeom>
          <a:solidFill>
            <a:srgbClr val="02C39A"/>
          </a:solidFill>
          <a:ln/>
        </p:spPr>
      </p:sp>
      <p:sp>
        <p:nvSpPr>
          <p:cNvPr id="10" name="Text 8"/>
          <p:cNvSpPr/>
          <p:nvPr/>
        </p:nvSpPr>
        <p:spPr>
          <a:xfrm>
            <a:off x="3493008" y="2532888"/>
            <a:ext cx="2240280" cy="73152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93.6%</a:t>
            </a:r>
            <a:endParaRPr lang="en-US" sz="3400" dirty="0"/>
          </a:p>
        </p:txBody>
      </p:sp>
      <p:sp>
        <p:nvSpPr>
          <p:cNvPr id="11" name="Text 9"/>
          <p:cNvSpPr/>
          <p:nvPr/>
        </p:nvSpPr>
        <p:spPr>
          <a:xfrm>
            <a:off x="3493008" y="3246120"/>
            <a:ext cx="2240280" cy="274320"/>
          </a:xfrm>
          <a:prstGeom prst="rect">
            <a:avLst/>
          </a:prstGeom>
          <a:noFill/>
          <a:ln/>
        </p:spPr>
        <p:txBody>
          <a:bodyPr wrap="square" lIns="0" tIns="0" rIns="0" bIns="0" rtlCol="0" anchor="ctr"/>
          <a:lstStyle/>
          <a:p>
            <a:pPr marL="0" indent="0">
              <a:buNone/>
            </a:pPr>
            <a:r>
              <a:rPr lang="en-US" sz="1050" b="1" kern="0" spc="50" dirty="0">
                <a:solidFill>
                  <a:srgbClr val="0B4D3C"/>
                </a:solidFill>
                <a:latin typeface="Calibri" pitchFamily="34" charset="0"/>
                <a:ea typeface="Calibri" pitchFamily="34" charset="-122"/>
                <a:cs typeface="Calibri" pitchFamily="34" charset="-120"/>
              </a:rPr>
              <a:t>PRECISION</a:t>
            </a:r>
            <a:endParaRPr lang="en-US" sz="1050" dirty="0"/>
          </a:p>
        </p:txBody>
      </p:sp>
      <p:sp>
        <p:nvSpPr>
          <p:cNvPr id="12" name="Text 10"/>
          <p:cNvSpPr/>
          <p:nvPr/>
        </p:nvSpPr>
        <p:spPr>
          <a:xfrm>
            <a:off x="3493008" y="3538728"/>
            <a:ext cx="2240280" cy="713232"/>
          </a:xfrm>
          <a:prstGeom prst="rect">
            <a:avLst/>
          </a:prstGeom>
          <a:noFill/>
          <a:ln/>
        </p:spPr>
        <p:txBody>
          <a:bodyPr wrap="square" lIns="0" tIns="0" rIns="0" bIns="0" rtlCol="0" anchor="ctr"/>
          <a:lstStyle/>
          <a:p>
            <a:pPr marL="0" indent="0">
              <a:lnSpc>
                <a:spcPct val="115000"/>
              </a:lnSpc>
              <a:buNone/>
            </a:pPr>
            <a:r>
              <a:rPr lang="en-US" sz="950" dirty="0">
                <a:solidFill>
                  <a:srgbClr val="0B4D3C"/>
                </a:solidFill>
                <a:latin typeface="Calibri" pitchFamily="34" charset="0"/>
                <a:ea typeface="Calibri" pitchFamily="34" charset="-122"/>
                <a:cs typeface="Calibri" pitchFamily="34" charset="-120"/>
              </a:rPr>
              <a:t>Flagged risks are genuine risks — minimizes false alarms</a:t>
            </a:r>
            <a:endParaRPr lang="en-US" sz="950" dirty="0"/>
          </a:p>
        </p:txBody>
      </p:sp>
      <p:sp>
        <p:nvSpPr>
          <p:cNvPr id="13" name="Shape 11"/>
          <p:cNvSpPr/>
          <p:nvPr/>
        </p:nvSpPr>
        <p:spPr>
          <a:xfrm>
            <a:off x="6071616" y="2331720"/>
            <a:ext cx="2514600" cy="1965960"/>
          </a:xfrm>
          <a:prstGeom prst="roundRect">
            <a:avLst>
              <a:gd name="adj" fmla="val 5581"/>
            </a:avLst>
          </a:prstGeom>
          <a:solidFill>
            <a:srgbClr val="262F80"/>
          </a:solidFill>
          <a:ln/>
        </p:spPr>
      </p:sp>
      <p:sp>
        <p:nvSpPr>
          <p:cNvPr id="14" name="Text 12"/>
          <p:cNvSpPr/>
          <p:nvPr/>
        </p:nvSpPr>
        <p:spPr>
          <a:xfrm>
            <a:off x="6208776" y="2532888"/>
            <a:ext cx="224028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1,040</a:t>
            </a:r>
            <a:endParaRPr lang="en-US" sz="3400" dirty="0"/>
          </a:p>
        </p:txBody>
      </p:sp>
      <p:sp>
        <p:nvSpPr>
          <p:cNvPr id="15" name="Text 13"/>
          <p:cNvSpPr/>
          <p:nvPr/>
        </p:nvSpPr>
        <p:spPr>
          <a:xfrm>
            <a:off x="6208776" y="3246120"/>
            <a:ext cx="2240280" cy="274320"/>
          </a:xfrm>
          <a:prstGeom prst="rect">
            <a:avLst/>
          </a:prstGeom>
          <a:noFill/>
          <a:ln/>
        </p:spPr>
        <p:txBody>
          <a:bodyPr wrap="square" lIns="0" tIns="0" rIns="0" bIns="0" rtlCol="0" anchor="ctr"/>
          <a:lstStyle/>
          <a:p>
            <a:pPr marL="0" indent="0">
              <a:buNone/>
            </a:pPr>
            <a:r>
              <a:rPr lang="en-US" sz="1050" b="1" kern="0" spc="50" dirty="0">
                <a:solidFill>
                  <a:srgbClr val="02C39A"/>
                </a:solidFill>
                <a:latin typeface="Calibri" pitchFamily="34" charset="0"/>
                <a:ea typeface="Calibri" pitchFamily="34" charset="-122"/>
                <a:cs typeface="Calibri" pitchFamily="34" charset="-120"/>
              </a:rPr>
              <a:t>TEST CASES</a:t>
            </a:r>
            <a:endParaRPr lang="en-US" sz="1050" dirty="0"/>
          </a:p>
        </p:txBody>
      </p:sp>
      <p:sp>
        <p:nvSpPr>
          <p:cNvPr id="16" name="Text 14"/>
          <p:cNvSpPr/>
          <p:nvPr/>
        </p:nvSpPr>
        <p:spPr>
          <a:xfrm>
            <a:off x="6208776" y="3538728"/>
            <a:ext cx="2240280" cy="713232"/>
          </a:xfrm>
          <a:prstGeom prst="rect">
            <a:avLst/>
          </a:prstGeom>
          <a:noFill/>
          <a:ln/>
        </p:spPr>
        <p:txBody>
          <a:bodyPr wrap="square" lIns="0" tIns="0" rIns="0" bIns="0" rtlCol="0" anchor="ctr"/>
          <a:lstStyle/>
          <a:p>
            <a:pPr marL="0" indent="0">
              <a:lnSpc>
                <a:spcPct val="115000"/>
              </a:lnSpc>
              <a:buNone/>
            </a:pPr>
            <a:r>
              <a:rPr lang="en-US" sz="950" dirty="0">
                <a:solidFill>
                  <a:srgbClr val="CADCFC"/>
                </a:solidFill>
                <a:latin typeface="Calibri" pitchFamily="34" charset="0"/>
                <a:ea typeface="Calibri" pitchFamily="34" charset="-122"/>
                <a:cs typeface="Calibri" pitchFamily="34" charset="-120"/>
              </a:rPr>
              <a:t>740 real failures + 300 real healthy periods</a:t>
            </a:r>
            <a:endParaRPr lang="en-US" sz="950" dirty="0"/>
          </a:p>
        </p:txBody>
      </p:sp>
      <p:sp>
        <p:nvSpPr>
          <p:cNvPr id="17" name="Shape 15"/>
          <p:cNvSpPr/>
          <p:nvPr/>
        </p:nvSpPr>
        <p:spPr>
          <a:xfrm>
            <a:off x="8787384" y="2331720"/>
            <a:ext cx="2514600" cy="1965960"/>
          </a:xfrm>
          <a:prstGeom prst="roundRect">
            <a:avLst>
              <a:gd name="adj" fmla="val 5581"/>
            </a:avLst>
          </a:prstGeom>
          <a:solidFill>
            <a:srgbClr val="262F80"/>
          </a:solidFill>
          <a:ln/>
        </p:spPr>
      </p:sp>
      <p:sp>
        <p:nvSpPr>
          <p:cNvPr id="18" name="Text 16"/>
          <p:cNvSpPr/>
          <p:nvPr/>
        </p:nvSpPr>
        <p:spPr>
          <a:xfrm>
            <a:off x="8924544" y="2532888"/>
            <a:ext cx="224028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100%</a:t>
            </a:r>
            <a:endParaRPr lang="en-US" sz="3400" dirty="0"/>
          </a:p>
        </p:txBody>
      </p:sp>
      <p:sp>
        <p:nvSpPr>
          <p:cNvPr id="19" name="Text 17"/>
          <p:cNvSpPr/>
          <p:nvPr/>
        </p:nvSpPr>
        <p:spPr>
          <a:xfrm>
            <a:off x="8924544" y="3246120"/>
            <a:ext cx="2240280" cy="274320"/>
          </a:xfrm>
          <a:prstGeom prst="rect">
            <a:avLst/>
          </a:prstGeom>
          <a:noFill/>
          <a:ln/>
        </p:spPr>
        <p:txBody>
          <a:bodyPr wrap="square" lIns="0" tIns="0" rIns="0" bIns="0" rtlCol="0" anchor="ctr"/>
          <a:lstStyle/>
          <a:p>
            <a:pPr marL="0" indent="0">
              <a:buNone/>
            </a:pPr>
            <a:r>
              <a:rPr lang="en-US" sz="1050" b="1" kern="0" spc="50" dirty="0">
                <a:solidFill>
                  <a:srgbClr val="02C39A"/>
                </a:solidFill>
                <a:latin typeface="Calibri" pitchFamily="34" charset="0"/>
                <a:ea typeface="Calibri" pitchFamily="34" charset="-122"/>
                <a:cs typeface="Calibri" pitchFamily="34" charset="-120"/>
              </a:rPr>
              <a:t>BATCH ACCURACY</a:t>
            </a:r>
            <a:endParaRPr lang="en-US" sz="1050" dirty="0"/>
          </a:p>
        </p:txBody>
      </p:sp>
      <p:sp>
        <p:nvSpPr>
          <p:cNvPr id="20" name="Text 18"/>
          <p:cNvSpPr/>
          <p:nvPr/>
        </p:nvSpPr>
        <p:spPr>
          <a:xfrm>
            <a:off x="8924544" y="3538728"/>
            <a:ext cx="2240280" cy="713232"/>
          </a:xfrm>
          <a:prstGeom prst="rect">
            <a:avLst/>
          </a:prstGeom>
          <a:noFill/>
          <a:ln/>
        </p:spPr>
        <p:txBody>
          <a:bodyPr wrap="square" lIns="0" tIns="0" rIns="0" bIns="0" rtlCol="0" anchor="ctr"/>
          <a:lstStyle/>
          <a:p>
            <a:pPr marL="0" indent="0">
              <a:lnSpc>
                <a:spcPct val="115000"/>
              </a:lnSpc>
              <a:buNone/>
            </a:pPr>
            <a:r>
              <a:rPr lang="en-US" sz="950" dirty="0">
                <a:solidFill>
                  <a:srgbClr val="CADCFC"/>
                </a:solidFill>
                <a:latin typeface="Calibri" pitchFamily="34" charset="0"/>
                <a:ea typeface="Calibri" pitchFamily="34" charset="-122"/>
                <a:cs typeface="Calibri" pitchFamily="34" charset="-120"/>
              </a:rPr>
              <a:t>5-machine automated LangGraph batch test, post-fix</a:t>
            </a:r>
            <a:endParaRPr lang="en-US" sz="950" dirty="0"/>
          </a:p>
        </p:txBody>
      </p:sp>
      <p:sp>
        <p:nvSpPr>
          <p:cNvPr id="21" name="Text 19"/>
          <p:cNvSpPr/>
          <p:nvPr/>
        </p:nvSpPr>
        <p:spPr>
          <a:xfrm>
            <a:off x="640080" y="4663440"/>
            <a:ext cx="10607040" cy="777240"/>
          </a:xfrm>
          <a:prstGeom prst="rect">
            <a:avLst/>
          </a:prstGeom>
          <a:noFill/>
          <a:ln/>
        </p:spPr>
        <p:txBody>
          <a:bodyPr wrap="square" lIns="0" tIns="0" rIns="0" bIns="0" rtlCol="0" anchor="ctr"/>
          <a:lstStyle/>
          <a:p>
            <a:pPr marL="0" indent="0">
              <a:lnSpc>
                <a:spcPct val="130000"/>
              </a:lnSpc>
              <a:buNone/>
            </a:pPr>
            <a:r>
              <a:rPr lang="en-US" sz="1500" i="1" dirty="0">
                <a:solidFill>
                  <a:srgbClr val="CADCFC"/>
                </a:solidFill>
                <a:latin typeface="Cambria" pitchFamily="34" charset="0"/>
                <a:ea typeface="Cambria" pitchFamily="34" charset="-122"/>
                <a:cs typeface="Cambria" pitchFamily="34" charset="-120"/>
              </a:rPr>
              <a:t>“Prioritization driven by empirical failure-rate statistics, diagnoses grounded in retrieved real cases, recommendations grounded in real repair history, predictions backtested against actual outcomes.”</a:t>
            </a:r>
            <a:endParaRPr lang="en-US" sz="1500" dirty="0"/>
          </a:p>
        </p:txBody>
      </p:sp>
      <p:sp>
        <p:nvSpPr>
          <p:cNvPr id="22" name="Text 20"/>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Agentic AI Predictive Maintenance</a:t>
            </a:r>
            <a:endParaRPr lang="en-US" sz="1000" dirty="0"/>
          </a:p>
        </p:txBody>
      </p:sp>
      <p:sp>
        <p:nvSpPr>
          <p:cNvPr id="23" name="Text 21"/>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buNone/>
            </a:pPr>
            <a:r>
              <a:rPr lang="en-US" sz="1200" b="1" kern="0" spc="100" dirty="0">
                <a:solidFill>
                  <a:srgbClr val="02C39A"/>
                </a:solidFill>
                <a:latin typeface="Calibri" pitchFamily="34" charset="0"/>
                <a:ea typeface="Calibri" pitchFamily="34" charset="-122"/>
                <a:cs typeface="Calibri" pitchFamily="34" charset="-120"/>
              </a:rPr>
              <a:t>ENGINEERING RIGOR</a:t>
            </a:r>
            <a:endParaRPr lang="en-US" sz="1200" dirty="0"/>
          </a:p>
        </p:txBody>
      </p:sp>
      <p:sp>
        <p:nvSpPr>
          <p:cNvPr id="3" name="Text 1"/>
          <p:cNvSpPr/>
          <p:nvPr/>
        </p:nvSpPr>
        <p:spPr>
          <a:xfrm>
            <a:off x="640080" y="777240"/>
            <a:ext cx="10515600" cy="594360"/>
          </a:xfrm>
          <a:prstGeom prst="rect">
            <a:avLst/>
          </a:prstGeom>
          <a:noFill/>
          <a:ln/>
        </p:spPr>
        <p:txBody>
          <a:bodyPr wrap="square" lIns="0" tIns="0" rIns="0" bIns="0" rtlCol="0" anchor="ctr"/>
          <a:lstStyle/>
          <a:p>
            <a:pPr marL="0" indent="0">
              <a:buNone/>
            </a:pPr>
            <a:r>
              <a:rPr lang="en-US" sz="2600" b="1" dirty="0">
                <a:solidFill>
                  <a:srgbClr val="1C1C28"/>
                </a:solidFill>
                <a:latin typeface="Cambria" pitchFamily="34" charset="0"/>
                <a:ea typeface="Cambria" pitchFamily="34" charset="-122"/>
                <a:cs typeface="Cambria" pitchFamily="34" charset="-120"/>
              </a:rPr>
              <a:t>Real bugs found, root-caused, and fixed</a:t>
            </a:r>
            <a:endParaRPr lang="en-US" sz="2600" dirty="0"/>
          </a:p>
        </p:txBody>
      </p:sp>
      <p:sp>
        <p:nvSpPr>
          <p:cNvPr id="4" name="Text 2"/>
          <p:cNvSpPr/>
          <p:nvPr/>
        </p:nvSpPr>
        <p:spPr>
          <a:xfrm>
            <a:off x="640080" y="1417320"/>
            <a:ext cx="10607040" cy="365760"/>
          </a:xfrm>
          <a:prstGeom prst="rect">
            <a:avLst/>
          </a:prstGeom>
          <a:noFill/>
          <a:ln/>
        </p:spPr>
        <p:txBody>
          <a:bodyPr wrap="square" lIns="0" tIns="0" rIns="0" bIns="0" rtlCol="0" anchor="ctr"/>
          <a:lstStyle/>
          <a:p>
            <a:pPr marL="0" indent="0">
              <a:buNone/>
            </a:pPr>
            <a:r>
              <a:rPr lang="en-US" sz="1250" dirty="0">
                <a:solidFill>
                  <a:srgbClr val="6B6F85"/>
                </a:solidFill>
                <a:latin typeface="Calibri" pitchFamily="34" charset="0"/>
                <a:ea typeface="Calibri" pitchFamily="34" charset="-122"/>
                <a:cs typeface="Calibri" pitchFamily="34" charset="-120"/>
              </a:rPr>
              <a:t>Every fix below was verified with a before/after re-test on real data — not assumed to work.</a:t>
            </a:r>
            <a:endParaRPr lang="en-US" sz="1250" dirty="0"/>
          </a:p>
        </p:txBody>
      </p:sp>
      <p:sp>
        <p:nvSpPr>
          <p:cNvPr id="5" name="Shape 3"/>
          <p:cNvSpPr/>
          <p:nvPr/>
        </p:nvSpPr>
        <p:spPr>
          <a:xfrm>
            <a:off x="640080" y="2011680"/>
            <a:ext cx="10927080" cy="1170432"/>
          </a:xfrm>
          <a:prstGeom prst="roundRect">
            <a:avLst>
              <a:gd name="adj" fmla="val 7813"/>
            </a:avLst>
          </a:prstGeom>
          <a:solidFill>
            <a:srgbClr val="F4F6FB"/>
          </a:solidFill>
          <a:ln/>
        </p:spPr>
      </p:sp>
      <p:sp>
        <p:nvSpPr>
          <p:cNvPr id="6" name="Shape 4"/>
          <p:cNvSpPr/>
          <p:nvPr/>
        </p:nvSpPr>
        <p:spPr>
          <a:xfrm>
            <a:off x="868680" y="2194560"/>
            <a:ext cx="2651760" cy="457200"/>
          </a:xfrm>
          <a:prstGeom prst="roundRect">
            <a:avLst>
              <a:gd name="adj" fmla="val 16000"/>
            </a:avLst>
          </a:prstGeom>
          <a:solidFill>
            <a:srgbClr val="C94A3D"/>
          </a:solidFill>
          <a:ln/>
        </p:spPr>
      </p:sp>
      <p:sp>
        <p:nvSpPr>
          <p:cNvPr id="7" name="Text 5"/>
          <p:cNvSpPr/>
          <p:nvPr/>
        </p:nvSpPr>
        <p:spPr>
          <a:xfrm>
            <a:off x="868680" y="2194560"/>
            <a:ext cx="265176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Missing-data guard</a:t>
            </a:r>
            <a:endParaRPr lang="en-US" sz="1150" dirty="0"/>
          </a:p>
        </p:txBody>
      </p:sp>
      <p:sp>
        <p:nvSpPr>
          <p:cNvPr id="8" name="Text 6"/>
          <p:cNvSpPr/>
          <p:nvPr/>
        </p:nvSpPr>
        <p:spPr>
          <a:xfrm>
            <a:off x="3749040" y="2139696"/>
            <a:ext cx="6903720" cy="457200"/>
          </a:xfrm>
          <a:prstGeom prst="rect">
            <a:avLst/>
          </a:prstGeom>
          <a:noFill/>
          <a:ln/>
        </p:spPr>
        <p:txBody>
          <a:bodyPr wrap="square" lIns="0" tIns="0" rIns="0" bIns="0" rtlCol="0" anchor="ctr"/>
          <a:lstStyle/>
          <a:p>
            <a:pPr marL="0" indent="0">
              <a:lnSpc>
                <a:spcPct val="115000"/>
              </a:lnSpc>
              <a:buNone/>
            </a:pPr>
            <a:r>
              <a:rPr lang="en-US" sz="1100" dirty="0">
                <a:solidFill>
                  <a:srgbClr val="1C1C28"/>
                </a:solidFill>
                <a:latin typeface="Calibri" pitchFamily="34" charset="0"/>
                <a:ea typeface="Calibri" pitchFamily="34" charset="-122"/>
                <a:cs typeface="Calibri" pitchFamily="34" charset="-120"/>
              </a:rPr>
              <a:t>Found: Machine showed a confident diagnosis built on NaN sensor values</a:t>
            </a:r>
            <a:endParaRPr lang="en-US" sz="1100" dirty="0"/>
          </a:p>
        </p:txBody>
      </p:sp>
      <p:sp>
        <p:nvSpPr>
          <p:cNvPr id="9" name="Text 7"/>
          <p:cNvSpPr/>
          <p:nvPr/>
        </p:nvSpPr>
        <p:spPr>
          <a:xfrm>
            <a:off x="3749040" y="2633472"/>
            <a:ext cx="6903720" cy="457200"/>
          </a:xfrm>
          <a:prstGeom prst="rect">
            <a:avLst/>
          </a:prstGeom>
          <a:noFill/>
          <a:ln/>
        </p:spPr>
        <p:txBody>
          <a:bodyPr wrap="square" lIns="0" tIns="0" rIns="0" bIns="0" rtlCol="0" anchor="ctr"/>
          <a:lstStyle/>
          <a:p>
            <a:pPr marL="0" indent="0">
              <a:lnSpc>
                <a:spcPct val="115000"/>
              </a:lnSpc>
              <a:buNone/>
            </a:pPr>
            <a:r>
              <a:rPr lang="en-US" sz="1100" dirty="0">
                <a:solidFill>
                  <a:srgbClr val="2E9E5B"/>
                </a:solidFill>
                <a:latin typeface="Calibri" pitchFamily="34" charset="0"/>
                <a:ea typeface="Calibri" pitchFamily="34" charset="-122"/>
                <a:cs typeface="Calibri" pitchFamily="34" charset="-120"/>
              </a:rPr>
              <a:t>Fixed: Added validation guard — returns “insufficient data” instead of guessing</a:t>
            </a:r>
            <a:endParaRPr lang="en-US" sz="1100" dirty="0"/>
          </a:p>
        </p:txBody>
      </p:sp>
      <p:sp>
        <p:nvSpPr>
          <p:cNvPr id="10" name="Shape 8"/>
          <p:cNvSpPr/>
          <p:nvPr/>
        </p:nvSpPr>
        <p:spPr>
          <a:xfrm>
            <a:off x="640080" y="3364992"/>
            <a:ext cx="10927080" cy="1170432"/>
          </a:xfrm>
          <a:prstGeom prst="roundRect">
            <a:avLst>
              <a:gd name="adj" fmla="val 7813"/>
            </a:avLst>
          </a:prstGeom>
          <a:solidFill>
            <a:srgbClr val="F4F6FB"/>
          </a:solidFill>
          <a:ln/>
        </p:spPr>
      </p:sp>
      <p:sp>
        <p:nvSpPr>
          <p:cNvPr id="11" name="Shape 9"/>
          <p:cNvSpPr/>
          <p:nvPr/>
        </p:nvSpPr>
        <p:spPr>
          <a:xfrm>
            <a:off x="868680" y="3547872"/>
            <a:ext cx="2651760" cy="457200"/>
          </a:xfrm>
          <a:prstGeom prst="roundRect">
            <a:avLst>
              <a:gd name="adj" fmla="val 16000"/>
            </a:avLst>
          </a:prstGeom>
          <a:solidFill>
            <a:srgbClr val="C94A3D"/>
          </a:solidFill>
          <a:ln/>
        </p:spPr>
      </p:sp>
      <p:sp>
        <p:nvSpPr>
          <p:cNvPr id="12" name="Text 10"/>
          <p:cNvSpPr/>
          <p:nvPr/>
        </p:nvSpPr>
        <p:spPr>
          <a:xfrm>
            <a:off x="868680" y="3547872"/>
            <a:ext cx="265176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Retrieval magnitude bias</a:t>
            </a:r>
            <a:endParaRPr lang="en-US" sz="1150" dirty="0"/>
          </a:p>
        </p:txBody>
      </p:sp>
      <p:sp>
        <p:nvSpPr>
          <p:cNvPr id="13" name="Text 11"/>
          <p:cNvSpPr/>
          <p:nvPr/>
        </p:nvSpPr>
        <p:spPr>
          <a:xfrm>
            <a:off x="3749040" y="3493008"/>
            <a:ext cx="6903720" cy="457200"/>
          </a:xfrm>
          <a:prstGeom prst="rect">
            <a:avLst/>
          </a:prstGeom>
          <a:noFill/>
          <a:ln/>
        </p:spPr>
        <p:txBody>
          <a:bodyPr wrap="square" lIns="0" tIns="0" rIns="0" bIns="0" rtlCol="0" anchor="ctr"/>
          <a:lstStyle/>
          <a:p>
            <a:pPr marL="0" indent="0">
              <a:lnSpc>
                <a:spcPct val="115000"/>
              </a:lnSpc>
              <a:buNone/>
            </a:pPr>
            <a:r>
              <a:rPr lang="en-US" sz="1100" dirty="0">
                <a:solidFill>
                  <a:srgbClr val="1C1C28"/>
                </a:solidFill>
                <a:latin typeface="Calibri" pitchFamily="34" charset="0"/>
                <a:ea typeface="Calibri" pitchFamily="34" charset="-122"/>
                <a:cs typeface="Calibri" pitchFamily="34" charset="-120"/>
              </a:rPr>
              <a:t>Found: Text search couldn't tell “voltage 12%” from “voltage 1%” — comp1/comp3 never surfaced</a:t>
            </a:r>
            <a:endParaRPr lang="en-US" sz="1100" dirty="0"/>
          </a:p>
        </p:txBody>
      </p:sp>
      <p:sp>
        <p:nvSpPr>
          <p:cNvPr id="14" name="Text 12"/>
          <p:cNvSpPr/>
          <p:nvPr/>
        </p:nvSpPr>
        <p:spPr>
          <a:xfrm>
            <a:off x="3749040" y="3986784"/>
            <a:ext cx="6903720" cy="457200"/>
          </a:xfrm>
          <a:prstGeom prst="rect">
            <a:avLst/>
          </a:prstGeom>
          <a:noFill/>
          <a:ln/>
        </p:spPr>
        <p:txBody>
          <a:bodyPr wrap="square" lIns="0" tIns="0" rIns="0" bIns="0" rtlCol="0" anchor="ctr"/>
          <a:lstStyle/>
          <a:p>
            <a:pPr marL="0" indent="0">
              <a:lnSpc>
                <a:spcPct val="115000"/>
              </a:lnSpc>
              <a:buNone/>
            </a:pPr>
            <a:r>
              <a:rPr lang="en-US" sz="1100" dirty="0">
                <a:solidFill>
                  <a:srgbClr val="2E9E5B"/>
                </a:solidFill>
                <a:latin typeface="Calibri" pitchFamily="34" charset="0"/>
                <a:ea typeface="Calibri" pitchFamily="34" charset="-122"/>
                <a:cs typeface="Calibri" pitchFamily="34" charset="-120"/>
              </a:rPr>
              <a:t>Fixed: Added a dominant_sensor structured filter, computed from real numbers</a:t>
            </a:r>
            <a:endParaRPr lang="en-US" sz="1100" dirty="0"/>
          </a:p>
        </p:txBody>
      </p:sp>
      <p:sp>
        <p:nvSpPr>
          <p:cNvPr id="15" name="Shape 13"/>
          <p:cNvSpPr/>
          <p:nvPr/>
        </p:nvSpPr>
        <p:spPr>
          <a:xfrm>
            <a:off x="640080" y="4718304"/>
            <a:ext cx="10927080" cy="1170432"/>
          </a:xfrm>
          <a:prstGeom prst="roundRect">
            <a:avLst>
              <a:gd name="adj" fmla="val 7813"/>
            </a:avLst>
          </a:prstGeom>
          <a:solidFill>
            <a:srgbClr val="F4F6FB"/>
          </a:solidFill>
          <a:ln/>
        </p:spPr>
      </p:sp>
      <p:sp>
        <p:nvSpPr>
          <p:cNvPr id="16" name="Shape 14"/>
          <p:cNvSpPr/>
          <p:nvPr/>
        </p:nvSpPr>
        <p:spPr>
          <a:xfrm>
            <a:off x="868680" y="4901184"/>
            <a:ext cx="2651760" cy="457200"/>
          </a:xfrm>
          <a:prstGeom prst="roundRect">
            <a:avLst>
              <a:gd name="adj" fmla="val 16000"/>
            </a:avLst>
          </a:prstGeom>
          <a:solidFill>
            <a:srgbClr val="C94A3D"/>
          </a:solidFill>
          <a:ln/>
        </p:spPr>
      </p:sp>
      <p:sp>
        <p:nvSpPr>
          <p:cNvPr id="17" name="Text 15"/>
          <p:cNvSpPr/>
          <p:nvPr/>
        </p:nvSpPr>
        <p:spPr>
          <a:xfrm>
            <a:off x="868680" y="4901184"/>
            <a:ext cx="265176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Merge-order bias</a:t>
            </a:r>
            <a:endParaRPr lang="en-US" sz="1150" dirty="0"/>
          </a:p>
        </p:txBody>
      </p:sp>
      <p:sp>
        <p:nvSpPr>
          <p:cNvPr id="18" name="Text 16"/>
          <p:cNvSpPr/>
          <p:nvPr/>
        </p:nvSpPr>
        <p:spPr>
          <a:xfrm>
            <a:off x="3749040" y="4846320"/>
            <a:ext cx="6903720" cy="457200"/>
          </a:xfrm>
          <a:prstGeom prst="rect">
            <a:avLst/>
          </a:prstGeom>
          <a:noFill/>
          <a:ln/>
        </p:spPr>
        <p:txBody>
          <a:bodyPr wrap="square" lIns="0" tIns="0" rIns="0" bIns="0" rtlCol="0" anchor="ctr"/>
          <a:lstStyle/>
          <a:p>
            <a:pPr marL="0" indent="0">
              <a:lnSpc>
                <a:spcPct val="115000"/>
              </a:lnSpc>
              <a:buNone/>
            </a:pPr>
            <a:r>
              <a:rPr lang="en-US" sz="1100" dirty="0">
                <a:solidFill>
                  <a:srgbClr val="1C1C28"/>
                </a:solidFill>
                <a:latin typeface="Calibri" pitchFamily="34" charset="0"/>
                <a:ea typeface="Calibri" pitchFamily="34" charset="-122"/>
                <a:cs typeface="Calibri" pitchFamily="34" charset="-120"/>
              </a:rPr>
              <a:t>Found: Correctly filtered matches were still outranked by irrelevant broad-search results</a:t>
            </a:r>
            <a:endParaRPr lang="en-US" sz="1100" dirty="0"/>
          </a:p>
        </p:txBody>
      </p:sp>
      <p:sp>
        <p:nvSpPr>
          <p:cNvPr id="19" name="Text 17"/>
          <p:cNvSpPr/>
          <p:nvPr/>
        </p:nvSpPr>
        <p:spPr>
          <a:xfrm>
            <a:off x="3749040" y="5340096"/>
            <a:ext cx="6903720" cy="457200"/>
          </a:xfrm>
          <a:prstGeom prst="rect">
            <a:avLst/>
          </a:prstGeom>
          <a:noFill/>
          <a:ln/>
        </p:spPr>
        <p:txBody>
          <a:bodyPr wrap="square" lIns="0" tIns="0" rIns="0" bIns="0" rtlCol="0" anchor="ctr"/>
          <a:lstStyle/>
          <a:p>
            <a:pPr marL="0" indent="0">
              <a:lnSpc>
                <a:spcPct val="115000"/>
              </a:lnSpc>
              <a:buNone/>
            </a:pPr>
            <a:r>
              <a:rPr lang="en-US" sz="1100" dirty="0">
                <a:solidFill>
                  <a:srgbClr val="2E9E5B"/>
                </a:solidFill>
                <a:latin typeface="Calibri" pitchFamily="34" charset="0"/>
                <a:ea typeface="Calibri" pitchFamily="34" charset="-122"/>
                <a:cs typeface="Calibri" pitchFamily="34" charset="-120"/>
              </a:rPr>
              <a:t>Fixed: Fixed merge priority — accuracy on test set rose from 50% to 100%</a:t>
            </a:r>
            <a:endParaRPr lang="en-US" sz="1100" dirty="0"/>
          </a:p>
        </p:txBody>
      </p:sp>
      <p:sp>
        <p:nvSpPr>
          <p:cNvPr id="20" name="Text 18"/>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6B6F85"/>
                </a:solidFill>
                <a:latin typeface="Calibri" pitchFamily="34" charset="0"/>
                <a:ea typeface="Calibri" pitchFamily="34" charset="-122"/>
                <a:cs typeface="Calibri" pitchFamily="34" charset="-120"/>
              </a:rPr>
              <a:t>Agentic AI Predictive Maintenance</a:t>
            </a:r>
            <a:endParaRPr lang="en-US" sz="1000" dirty="0"/>
          </a:p>
        </p:txBody>
      </p:sp>
      <p:sp>
        <p:nvSpPr>
          <p:cNvPr id="21" name="Text 1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6F8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buNone/>
            </a:pPr>
            <a:r>
              <a:rPr lang="en-US" sz="1200" b="1" kern="0" spc="10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p:nvPr/>
        </p:nvSpPr>
        <p:spPr>
          <a:xfrm>
            <a:off x="640080" y="777240"/>
            <a:ext cx="5440680" cy="1188720"/>
          </a:xfrm>
          <a:prstGeom prst="rect">
            <a:avLst/>
          </a:prstGeom>
          <a:noFill/>
          <a:ln/>
        </p:spPr>
        <p:txBody>
          <a:bodyPr wrap="square" lIns="0" tIns="0" rIns="0" bIns="0" rtlCol="0" anchor="ctr"/>
          <a:lstStyle/>
          <a:p>
            <a:pPr marL="0" indent="0">
              <a:lnSpc>
                <a:spcPct val="115000"/>
              </a:lnSpc>
              <a:buNone/>
            </a:pPr>
            <a:r>
              <a:rPr lang="en-US" sz="2100" b="1" dirty="0">
                <a:solidFill>
                  <a:srgbClr val="1C1C28"/>
                </a:solidFill>
                <a:latin typeface="Cambria" pitchFamily="34" charset="0"/>
                <a:ea typeface="Cambria" pitchFamily="34" charset="-122"/>
                <a:cs typeface="Cambria" pitchFamily="34" charset="-120"/>
              </a:rPr>
              <a:t>Pick a date. See every machine, ranked by risk.</a:t>
            </a:r>
            <a:endParaRPr lang="en-US" sz="2100" dirty="0"/>
          </a:p>
        </p:txBody>
      </p:sp>
      <p:sp>
        <p:nvSpPr>
          <p:cNvPr id="4" name="Shape 2"/>
          <p:cNvSpPr/>
          <p:nvPr/>
        </p:nvSpPr>
        <p:spPr>
          <a:xfrm>
            <a:off x="640080" y="2240280"/>
            <a:ext cx="91440" cy="777240"/>
          </a:xfrm>
          <a:prstGeom prst="roundRect">
            <a:avLst/>
          </a:prstGeom>
          <a:solidFill>
            <a:srgbClr val="02C39A"/>
          </a:solidFill>
          <a:ln/>
        </p:spPr>
      </p:sp>
      <p:sp>
        <p:nvSpPr>
          <p:cNvPr id="5" name="Text 3"/>
          <p:cNvSpPr/>
          <p:nvPr/>
        </p:nvSpPr>
        <p:spPr>
          <a:xfrm>
            <a:off x="868680" y="2221992"/>
            <a:ext cx="5394960" cy="320040"/>
          </a:xfrm>
          <a:prstGeom prst="rect">
            <a:avLst/>
          </a:prstGeom>
          <a:noFill/>
          <a:ln/>
        </p:spPr>
        <p:txBody>
          <a:bodyPr wrap="square" lIns="0" tIns="0" rIns="0" bIns="0" rtlCol="0" anchor="ctr"/>
          <a:lstStyle/>
          <a:p>
            <a:pPr marL="0" indent="0">
              <a:buNone/>
            </a:pPr>
            <a:r>
              <a:rPr lang="en-US" sz="1300" b="1" dirty="0">
                <a:solidFill>
                  <a:srgbClr val="1C1C28"/>
                </a:solidFill>
                <a:latin typeface="Calibri" pitchFamily="34" charset="0"/>
                <a:ea typeface="Calibri" pitchFamily="34" charset="-122"/>
                <a:cs typeface="Calibri" pitchFamily="34" charset="-120"/>
              </a:rPr>
              <a:t>Health risk</a:t>
            </a:r>
            <a:endParaRPr lang="en-US" sz="1300" dirty="0"/>
          </a:p>
        </p:txBody>
      </p:sp>
      <p:sp>
        <p:nvSpPr>
          <p:cNvPr id="6" name="Text 4"/>
          <p:cNvSpPr/>
          <p:nvPr/>
        </p:nvSpPr>
        <p:spPr>
          <a:xfrm>
            <a:off x="868680" y="2532888"/>
            <a:ext cx="5394960" cy="502920"/>
          </a:xfrm>
          <a:prstGeom prst="rect">
            <a:avLst/>
          </a:prstGeom>
          <a:noFill/>
          <a:ln/>
        </p:spPr>
        <p:txBody>
          <a:bodyPr wrap="square" lIns="0" tIns="0" rIns="0" bIns="0" rtlCol="0" anchor="ctr"/>
          <a:lstStyle/>
          <a:p>
            <a:pPr marL="0" indent="0">
              <a:lnSpc>
                <a:spcPct val="120000"/>
              </a:lnSpc>
              <a:buNone/>
            </a:pPr>
            <a:r>
              <a:rPr lang="en-US" sz="1100" dirty="0">
                <a:solidFill>
                  <a:srgbClr val="6B6F85"/>
                </a:solidFill>
                <a:latin typeface="Calibri" pitchFamily="34" charset="0"/>
                <a:ea typeface="Calibri" pitchFamily="34" charset="-122"/>
                <a:cs typeface="Calibri" pitchFamily="34" charset="-120"/>
              </a:rPr>
              <a:t>Real-time sensor deviation from this machine's own normal baseline</a:t>
            </a:r>
            <a:endParaRPr lang="en-US" sz="1100" dirty="0"/>
          </a:p>
        </p:txBody>
      </p:sp>
      <p:sp>
        <p:nvSpPr>
          <p:cNvPr id="7" name="Shape 5"/>
          <p:cNvSpPr/>
          <p:nvPr/>
        </p:nvSpPr>
        <p:spPr>
          <a:xfrm>
            <a:off x="640080" y="3200400"/>
            <a:ext cx="91440" cy="777240"/>
          </a:xfrm>
          <a:prstGeom prst="roundRect">
            <a:avLst/>
          </a:prstGeom>
          <a:solidFill>
            <a:srgbClr val="02C39A"/>
          </a:solidFill>
          <a:ln/>
        </p:spPr>
      </p:sp>
      <p:sp>
        <p:nvSpPr>
          <p:cNvPr id="8" name="Text 6"/>
          <p:cNvSpPr/>
          <p:nvPr/>
        </p:nvSpPr>
        <p:spPr>
          <a:xfrm>
            <a:off x="868680" y="3182112"/>
            <a:ext cx="5394960" cy="320040"/>
          </a:xfrm>
          <a:prstGeom prst="rect">
            <a:avLst/>
          </a:prstGeom>
          <a:noFill/>
          <a:ln/>
        </p:spPr>
        <p:txBody>
          <a:bodyPr wrap="square" lIns="0" tIns="0" rIns="0" bIns="0" rtlCol="0" anchor="ctr"/>
          <a:lstStyle/>
          <a:p>
            <a:pPr marL="0" indent="0">
              <a:buNone/>
            </a:pPr>
            <a:r>
              <a:rPr lang="en-US" sz="1300" b="1" dirty="0">
                <a:solidFill>
                  <a:srgbClr val="1C1C28"/>
                </a:solidFill>
                <a:latin typeface="Calibri" pitchFamily="34" charset="0"/>
                <a:ea typeface="Calibri" pitchFamily="34" charset="-122"/>
                <a:cs typeface="Calibri" pitchFamily="34" charset="-120"/>
              </a:rPr>
              <a:t>24h failure probability</a:t>
            </a:r>
            <a:endParaRPr lang="en-US" sz="1300" dirty="0"/>
          </a:p>
        </p:txBody>
      </p:sp>
      <p:sp>
        <p:nvSpPr>
          <p:cNvPr id="9" name="Text 7"/>
          <p:cNvSpPr/>
          <p:nvPr/>
        </p:nvSpPr>
        <p:spPr>
          <a:xfrm>
            <a:off x="868680" y="3493008"/>
            <a:ext cx="5394960" cy="502920"/>
          </a:xfrm>
          <a:prstGeom prst="rect">
            <a:avLst/>
          </a:prstGeom>
          <a:noFill/>
          <a:ln/>
        </p:spPr>
        <p:txBody>
          <a:bodyPr wrap="square" lIns="0" tIns="0" rIns="0" bIns="0" rtlCol="0" anchor="ctr"/>
          <a:lstStyle/>
          <a:p>
            <a:pPr marL="0" indent="0">
              <a:lnSpc>
                <a:spcPct val="120000"/>
              </a:lnSpc>
              <a:buNone/>
            </a:pPr>
            <a:r>
              <a:rPr lang="en-US" sz="1100" dirty="0">
                <a:solidFill>
                  <a:srgbClr val="6B6F85"/>
                </a:solidFill>
                <a:latin typeface="Calibri" pitchFamily="34" charset="0"/>
                <a:ea typeface="Calibri" pitchFamily="34" charset="-122"/>
                <a:cs typeface="Calibri" pitchFamily="34" charset="-120"/>
              </a:rPr>
              <a:t>This machine's own historical failure pattern — how likely it fails in the next 24 hours</a:t>
            </a:r>
            <a:endParaRPr lang="en-US" sz="1100" dirty="0"/>
          </a:p>
        </p:txBody>
      </p:sp>
      <p:sp>
        <p:nvSpPr>
          <p:cNvPr id="10" name="Shape 8"/>
          <p:cNvSpPr/>
          <p:nvPr/>
        </p:nvSpPr>
        <p:spPr>
          <a:xfrm>
            <a:off x="640080" y="4160520"/>
            <a:ext cx="91440" cy="777240"/>
          </a:xfrm>
          <a:prstGeom prst="roundRect">
            <a:avLst/>
          </a:prstGeom>
          <a:solidFill>
            <a:srgbClr val="02C39A"/>
          </a:solidFill>
          <a:ln/>
        </p:spPr>
      </p:sp>
      <p:sp>
        <p:nvSpPr>
          <p:cNvPr id="11" name="Text 9"/>
          <p:cNvSpPr/>
          <p:nvPr/>
        </p:nvSpPr>
        <p:spPr>
          <a:xfrm>
            <a:off x="868680" y="4142232"/>
            <a:ext cx="5394960" cy="320040"/>
          </a:xfrm>
          <a:prstGeom prst="rect">
            <a:avLst/>
          </a:prstGeom>
          <a:noFill/>
          <a:ln/>
        </p:spPr>
        <p:txBody>
          <a:bodyPr wrap="square" lIns="0" tIns="0" rIns="0" bIns="0" rtlCol="0" anchor="ctr"/>
          <a:lstStyle/>
          <a:p>
            <a:pPr marL="0" indent="0">
              <a:buNone/>
            </a:pPr>
            <a:r>
              <a:rPr lang="en-US" sz="1300" b="1" dirty="0">
                <a:solidFill>
                  <a:srgbClr val="1C1C28"/>
                </a:solidFill>
                <a:latin typeface="Calibri" pitchFamily="34" charset="0"/>
                <a:ea typeface="Calibri" pitchFamily="34" charset="-122"/>
                <a:cs typeface="Calibri" pitchFamily="34" charset="-120"/>
              </a:rPr>
              <a:t>Sorted by real urgency</a:t>
            </a:r>
            <a:endParaRPr lang="en-US" sz="1300" dirty="0"/>
          </a:p>
        </p:txBody>
      </p:sp>
      <p:sp>
        <p:nvSpPr>
          <p:cNvPr id="12" name="Text 10"/>
          <p:cNvSpPr/>
          <p:nvPr/>
        </p:nvSpPr>
        <p:spPr>
          <a:xfrm>
            <a:off x="868680" y="4453128"/>
            <a:ext cx="5394960" cy="502920"/>
          </a:xfrm>
          <a:prstGeom prst="rect">
            <a:avLst/>
          </a:prstGeom>
          <a:noFill/>
          <a:ln/>
        </p:spPr>
        <p:txBody>
          <a:bodyPr wrap="square" lIns="0" tIns="0" rIns="0" bIns="0" rtlCol="0" anchor="ctr"/>
          <a:lstStyle/>
          <a:p>
            <a:pPr marL="0" indent="0">
              <a:lnSpc>
                <a:spcPct val="120000"/>
              </a:lnSpc>
              <a:buNone/>
            </a:pPr>
            <a:r>
              <a:rPr lang="en-US" sz="1100" dirty="0">
                <a:solidFill>
                  <a:srgbClr val="6B6F85"/>
                </a:solidFill>
                <a:latin typeface="Calibri" pitchFamily="34" charset="0"/>
                <a:ea typeface="Calibri" pitchFamily="34" charset="-122"/>
                <a:cs typeface="Calibri" pitchFamily="34" charset="-120"/>
              </a:rPr>
              <a:t>List ordered by actual failure probability, not just current symptoms</a:t>
            </a:r>
            <a:endParaRPr lang="en-US" sz="1100" dirty="0"/>
          </a:p>
        </p:txBody>
      </p:sp>
      <p:sp>
        <p:nvSpPr>
          <p:cNvPr id="13" name="Text 11"/>
          <p:cNvSpPr/>
          <p:nvPr/>
        </p:nvSpPr>
        <p:spPr>
          <a:xfrm>
            <a:off x="640080" y="5989320"/>
            <a:ext cx="5486400" cy="365760"/>
          </a:xfrm>
          <a:prstGeom prst="rect">
            <a:avLst/>
          </a:prstGeom>
          <a:noFill/>
          <a:ln/>
        </p:spPr>
        <p:txBody>
          <a:bodyPr wrap="square" lIns="0" tIns="0" rIns="0" bIns="0" rtlCol="0" anchor="ctr"/>
          <a:lstStyle/>
          <a:p>
            <a:pPr marL="0" indent="0">
              <a:buNone/>
            </a:pPr>
            <a:r>
              <a:rPr lang="en-US" sz="1050" i="1" dirty="0">
                <a:solidFill>
                  <a:srgbClr val="6B6F85"/>
                </a:solidFill>
                <a:latin typeface="Calibri" pitchFamily="34" charset="0"/>
                <a:ea typeface="Calibri" pitchFamily="34" charset="-122"/>
                <a:cs typeface="Calibri" pitchFamily="34" charset="-120"/>
              </a:rPr>
              <a:t>React + FastAPI — built on the same validated pipeline, no separate logic.</a:t>
            </a:r>
            <a:endParaRPr lang="en-US" sz="1050" dirty="0"/>
          </a:p>
        </p:txBody>
      </p:sp>
      <p:sp>
        <p:nvSpPr>
          <p:cNvPr id="14" name="Shape 12"/>
          <p:cNvSpPr/>
          <p:nvPr/>
        </p:nvSpPr>
        <p:spPr>
          <a:xfrm>
            <a:off x="6355080" y="1051560"/>
            <a:ext cx="5257800" cy="5349240"/>
          </a:xfrm>
          <a:prstGeom prst="roundRect">
            <a:avLst>
              <a:gd name="adj" fmla="val 1739"/>
            </a:avLst>
          </a:prstGeom>
          <a:solidFill>
            <a:srgbClr val="0B0E17"/>
          </a:solidFill>
          <a:ln w="12700">
            <a:solidFill>
              <a:srgbClr val="D8DAE3"/>
            </a:solidFill>
            <a:prstDash val="solid"/>
          </a:ln>
        </p:spPr>
      </p:sp>
      <p:pic>
        <p:nvPicPr>
          <p:cNvPr id="15" name="Image 0" descr="./dashboard_ranked.png"/>
          <p:cNvPicPr>
            <a:picLocks noChangeAspect="1"/>
          </p:cNvPicPr>
          <p:nvPr/>
        </p:nvPicPr>
        <p:blipFill>
          <a:blip r:embed="rId3"/>
          <a:stretch>
            <a:fillRect/>
          </a:stretch>
        </p:blipFill>
        <p:spPr>
          <a:xfrm>
            <a:off x="6473952" y="1170432"/>
            <a:ext cx="5020056" cy="5111496"/>
          </a:xfrm>
          <a:prstGeom prst="rect">
            <a:avLst/>
          </a:prstGeom>
        </p:spPr>
      </p:pic>
      <p:sp>
        <p:nvSpPr>
          <p:cNvPr id="16" name="Text 13"/>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6B6F85"/>
                </a:solidFill>
                <a:latin typeface="Calibri" pitchFamily="34" charset="0"/>
                <a:ea typeface="Calibri" pitchFamily="34" charset="-122"/>
                <a:cs typeface="Calibri" pitchFamily="34" charset="-120"/>
              </a:rPr>
              <a:t>Agentic AI Predictive Maintenance</a:t>
            </a:r>
            <a:endParaRPr lang="en-US" sz="1000" dirty="0"/>
          </a:p>
        </p:txBody>
      </p:sp>
      <p:sp>
        <p:nvSpPr>
          <p:cNvPr id="17" name="Text 14"/>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6F8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buNone/>
            </a:pPr>
            <a:r>
              <a:rPr lang="en-US" sz="1200" b="1" kern="0" spc="10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p:nvPr/>
        </p:nvSpPr>
        <p:spPr>
          <a:xfrm>
            <a:off x="640080" y="777240"/>
            <a:ext cx="5440680" cy="1188720"/>
          </a:xfrm>
          <a:prstGeom prst="rect">
            <a:avLst/>
          </a:prstGeom>
          <a:noFill/>
          <a:ln/>
        </p:spPr>
        <p:txBody>
          <a:bodyPr wrap="square" lIns="0" tIns="0" rIns="0" bIns="0" rtlCol="0" anchor="ctr"/>
          <a:lstStyle/>
          <a:p>
            <a:pPr marL="0" indent="0">
              <a:lnSpc>
                <a:spcPct val="115000"/>
              </a:lnSpc>
              <a:buNone/>
            </a:pPr>
            <a:r>
              <a:rPr lang="en-US" sz="2000" b="1" dirty="0">
                <a:solidFill>
                  <a:srgbClr val="1C1C28"/>
                </a:solidFill>
                <a:latin typeface="Cambria" pitchFamily="34" charset="0"/>
                <a:ea typeface="Cambria" pitchFamily="34" charset="-122"/>
                <a:cs typeface="Cambria" pitchFamily="34" charset="-120"/>
              </a:rPr>
              <a:t>Click a machine. Get the full agentic reasoning chain.</a:t>
            </a:r>
            <a:endParaRPr lang="en-US" sz="2000" dirty="0"/>
          </a:p>
        </p:txBody>
      </p:sp>
      <p:sp>
        <p:nvSpPr>
          <p:cNvPr id="4" name="Shape 2"/>
          <p:cNvSpPr/>
          <p:nvPr/>
        </p:nvSpPr>
        <p:spPr>
          <a:xfrm>
            <a:off x="640080" y="1874520"/>
            <a:ext cx="91440" cy="658368"/>
          </a:xfrm>
          <a:prstGeom prst="roundRect">
            <a:avLst/>
          </a:prstGeom>
          <a:solidFill>
            <a:srgbClr val="02C39A"/>
          </a:solidFill>
          <a:ln/>
        </p:spPr>
      </p:sp>
      <p:sp>
        <p:nvSpPr>
          <p:cNvPr id="5" name="Text 3"/>
          <p:cNvSpPr/>
          <p:nvPr/>
        </p:nvSpPr>
        <p:spPr>
          <a:xfrm>
            <a:off x="868680" y="1847088"/>
            <a:ext cx="5394960" cy="292608"/>
          </a:xfrm>
          <a:prstGeom prst="rect">
            <a:avLst/>
          </a:prstGeom>
          <a:noFill/>
          <a:ln/>
        </p:spPr>
        <p:txBody>
          <a:bodyPr wrap="square" lIns="0" tIns="0" rIns="0" bIns="0" rtlCol="0" anchor="ctr"/>
          <a:lstStyle/>
          <a:p>
            <a:pPr marL="0" indent="0">
              <a:buNone/>
            </a:pPr>
            <a:r>
              <a:rPr lang="en-US" sz="1250" b="1" dirty="0">
                <a:solidFill>
                  <a:srgbClr val="1C1C28"/>
                </a:solidFill>
                <a:latin typeface="Calibri" pitchFamily="34" charset="0"/>
                <a:ea typeface="Calibri" pitchFamily="34" charset="-122"/>
                <a:cs typeface="Calibri" pitchFamily="34" charset="-120"/>
              </a:rPr>
              <a:t>Diagnosis + confidence</a:t>
            </a:r>
            <a:endParaRPr lang="en-US" sz="1250" dirty="0"/>
          </a:p>
        </p:txBody>
      </p:sp>
      <p:sp>
        <p:nvSpPr>
          <p:cNvPr id="6" name="Text 4"/>
          <p:cNvSpPr/>
          <p:nvPr/>
        </p:nvSpPr>
        <p:spPr>
          <a:xfrm>
            <a:off x="868680" y="2130552"/>
            <a:ext cx="5394960" cy="411480"/>
          </a:xfrm>
          <a:prstGeom prst="rect">
            <a:avLst/>
          </a:prstGeom>
          <a:noFill/>
          <a:ln/>
        </p:spPr>
        <p:txBody>
          <a:bodyPr wrap="square" lIns="0" tIns="0" rIns="0" bIns="0" rtlCol="0" anchor="ctr"/>
          <a:lstStyle/>
          <a:p>
            <a:pPr marL="0" indent="0">
              <a:lnSpc>
                <a:spcPct val="115000"/>
              </a:lnSpc>
              <a:buNone/>
            </a:pPr>
            <a:r>
              <a:rPr lang="en-US" sz="1050" dirty="0">
                <a:solidFill>
                  <a:srgbClr val="6B6F85"/>
                </a:solidFill>
                <a:latin typeface="Calibri" pitchFamily="34" charset="0"/>
                <a:ea typeface="Calibri" pitchFamily="34" charset="-122"/>
                <a:cs typeface="Calibri" pitchFamily="34" charset="-120"/>
              </a:rPr>
              <a:t>Likely failing component, with a confidence score the routing logic can act on</a:t>
            </a:r>
            <a:endParaRPr lang="en-US" sz="1050" dirty="0"/>
          </a:p>
        </p:txBody>
      </p:sp>
      <p:sp>
        <p:nvSpPr>
          <p:cNvPr id="7" name="Shape 5"/>
          <p:cNvSpPr/>
          <p:nvPr/>
        </p:nvSpPr>
        <p:spPr>
          <a:xfrm>
            <a:off x="640080" y="2715768"/>
            <a:ext cx="91440" cy="658368"/>
          </a:xfrm>
          <a:prstGeom prst="roundRect">
            <a:avLst/>
          </a:prstGeom>
          <a:solidFill>
            <a:srgbClr val="02C39A"/>
          </a:solidFill>
          <a:ln/>
        </p:spPr>
      </p:sp>
      <p:sp>
        <p:nvSpPr>
          <p:cNvPr id="8" name="Text 6"/>
          <p:cNvSpPr/>
          <p:nvPr/>
        </p:nvSpPr>
        <p:spPr>
          <a:xfrm>
            <a:off x="868680" y="2688336"/>
            <a:ext cx="5394960" cy="292608"/>
          </a:xfrm>
          <a:prstGeom prst="rect">
            <a:avLst/>
          </a:prstGeom>
          <a:noFill/>
          <a:ln/>
        </p:spPr>
        <p:txBody>
          <a:bodyPr wrap="square" lIns="0" tIns="0" rIns="0" bIns="0" rtlCol="0" anchor="ctr"/>
          <a:lstStyle/>
          <a:p>
            <a:pPr marL="0" indent="0">
              <a:buNone/>
            </a:pPr>
            <a:r>
              <a:rPr lang="en-US" sz="1250" b="1" dirty="0">
                <a:solidFill>
                  <a:srgbClr val="1C1C28"/>
                </a:solidFill>
                <a:latin typeface="Calibri" pitchFamily="34" charset="0"/>
                <a:ea typeface="Calibri" pitchFamily="34" charset="-122"/>
                <a:cs typeface="Calibri" pitchFamily="34" charset="-120"/>
              </a:rPr>
              <a:t>Reasoning</a:t>
            </a:r>
            <a:endParaRPr lang="en-US" sz="1250" dirty="0"/>
          </a:p>
        </p:txBody>
      </p:sp>
      <p:sp>
        <p:nvSpPr>
          <p:cNvPr id="9" name="Text 7"/>
          <p:cNvSpPr/>
          <p:nvPr/>
        </p:nvSpPr>
        <p:spPr>
          <a:xfrm>
            <a:off x="868680" y="2971800"/>
            <a:ext cx="5394960" cy="411480"/>
          </a:xfrm>
          <a:prstGeom prst="rect">
            <a:avLst/>
          </a:prstGeom>
          <a:noFill/>
          <a:ln/>
        </p:spPr>
        <p:txBody>
          <a:bodyPr wrap="square" lIns="0" tIns="0" rIns="0" bIns="0" rtlCol="0" anchor="ctr"/>
          <a:lstStyle/>
          <a:p>
            <a:pPr marL="0" indent="0">
              <a:lnSpc>
                <a:spcPct val="115000"/>
              </a:lnSpc>
              <a:buNone/>
            </a:pPr>
            <a:r>
              <a:rPr lang="en-US" sz="1050" dirty="0">
                <a:solidFill>
                  <a:srgbClr val="6B6F85"/>
                </a:solidFill>
                <a:latin typeface="Calibri" pitchFamily="34" charset="0"/>
                <a:ea typeface="Calibri" pitchFamily="34" charset="-122"/>
                <a:cs typeface="Calibri" pitchFamily="34" charset="-120"/>
              </a:rPr>
              <a:t>Plain-language explanation citing the specific retrieved cases behind it</a:t>
            </a:r>
            <a:endParaRPr lang="en-US" sz="1050" dirty="0"/>
          </a:p>
        </p:txBody>
      </p:sp>
      <p:sp>
        <p:nvSpPr>
          <p:cNvPr id="10" name="Shape 8"/>
          <p:cNvSpPr/>
          <p:nvPr/>
        </p:nvSpPr>
        <p:spPr>
          <a:xfrm>
            <a:off x="640080" y="3557016"/>
            <a:ext cx="91440" cy="658368"/>
          </a:xfrm>
          <a:prstGeom prst="roundRect">
            <a:avLst/>
          </a:prstGeom>
          <a:solidFill>
            <a:srgbClr val="02C39A"/>
          </a:solidFill>
          <a:ln/>
        </p:spPr>
      </p:sp>
      <p:sp>
        <p:nvSpPr>
          <p:cNvPr id="11" name="Text 9"/>
          <p:cNvSpPr/>
          <p:nvPr/>
        </p:nvSpPr>
        <p:spPr>
          <a:xfrm>
            <a:off x="868680" y="3529584"/>
            <a:ext cx="5394960" cy="292608"/>
          </a:xfrm>
          <a:prstGeom prst="rect">
            <a:avLst/>
          </a:prstGeom>
          <a:noFill/>
          <a:ln/>
        </p:spPr>
        <p:txBody>
          <a:bodyPr wrap="square" lIns="0" tIns="0" rIns="0" bIns="0" rtlCol="0" anchor="ctr"/>
          <a:lstStyle/>
          <a:p>
            <a:pPr marL="0" indent="0">
              <a:buNone/>
            </a:pPr>
            <a:r>
              <a:rPr lang="en-US" sz="1250" b="1" dirty="0">
                <a:solidFill>
                  <a:srgbClr val="1C1C28"/>
                </a:solidFill>
                <a:latin typeface="Calibri" pitchFamily="34" charset="0"/>
                <a:ea typeface="Calibri" pitchFamily="34" charset="-122"/>
                <a:cs typeface="Calibri" pitchFamily="34" charset="-120"/>
              </a:rPr>
              <a:t>Recommendation</a:t>
            </a:r>
            <a:endParaRPr lang="en-US" sz="1250" dirty="0"/>
          </a:p>
        </p:txBody>
      </p:sp>
      <p:sp>
        <p:nvSpPr>
          <p:cNvPr id="12" name="Text 10"/>
          <p:cNvSpPr/>
          <p:nvPr/>
        </p:nvSpPr>
        <p:spPr>
          <a:xfrm>
            <a:off x="868680" y="3813048"/>
            <a:ext cx="5394960" cy="411480"/>
          </a:xfrm>
          <a:prstGeom prst="rect">
            <a:avLst/>
          </a:prstGeom>
          <a:noFill/>
          <a:ln/>
        </p:spPr>
        <p:txBody>
          <a:bodyPr wrap="square" lIns="0" tIns="0" rIns="0" bIns="0" rtlCol="0" anchor="ctr"/>
          <a:lstStyle/>
          <a:p>
            <a:pPr marL="0" indent="0">
              <a:lnSpc>
                <a:spcPct val="115000"/>
              </a:lnSpc>
              <a:buNone/>
            </a:pPr>
            <a:r>
              <a:rPr lang="en-US" sz="1050" dirty="0">
                <a:solidFill>
                  <a:srgbClr val="6B6F85"/>
                </a:solidFill>
                <a:latin typeface="Calibri" pitchFamily="34" charset="0"/>
                <a:ea typeface="Calibri" pitchFamily="34" charset="-122"/>
                <a:cs typeface="Calibri" pitchFamily="34" charset="-120"/>
              </a:rPr>
              <a:t>Action grounded in how similar past failures were actually resolved</a:t>
            </a:r>
            <a:endParaRPr lang="en-US" sz="1050" dirty="0"/>
          </a:p>
        </p:txBody>
      </p:sp>
      <p:sp>
        <p:nvSpPr>
          <p:cNvPr id="13" name="Shape 11"/>
          <p:cNvSpPr/>
          <p:nvPr/>
        </p:nvSpPr>
        <p:spPr>
          <a:xfrm>
            <a:off x="640080" y="4398264"/>
            <a:ext cx="91440" cy="658368"/>
          </a:xfrm>
          <a:prstGeom prst="roundRect">
            <a:avLst/>
          </a:prstGeom>
          <a:solidFill>
            <a:srgbClr val="02C39A"/>
          </a:solidFill>
          <a:ln/>
        </p:spPr>
      </p:sp>
      <p:sp>
        <p:nvSpPr>
          <p:cNvPr id="14" name="Text 12"/>
          <p:cNvSpPr/>
          <p:nvPr/>
        </p:nvSpPr>
        <p:spPr>
          <a:xfrm>
            <a:off x="868680" y="4370832"/>
            <a:ext cx="5394960" cy="292608"/>
          </a:xfrm>
          <a:prstGeom prst="rect">
            <a:avLst/>
          </a:prstGeom>
          <a:noFill/>
          <a:ln/>
        </p:spPr>
        <p:txBody>
          <a:bodyPr wrap="square" lIns="0" tIns="0" rIns="0" bIns="0" rtlCol="0" anchor="ctr"/>
          <a:lstStyle/>
          <a:p>
            <a:pPr marL="0" indent="0">
              <a:buNone/>
            </a:pPr>
            <a:r>
              <a:rPr lang="en-US" sz="1250" b="1" dirty="0">
                <a:solidFill>
                  <a:srgbClr val="1C1C28"/>
                </a:solidFill>
                <a:latin typeface="Calibri" pitchFamily="34" charset="0"/>
                <a:ea typeface="Calibri" pitchFamily="34" charset="-122"/>
                <a:cs typeface="Calibri" pitchFamily="34" charset="-120"/>
              </a:rPr>
              <a:t>Routing</a:t>
            </a:r>
            <a:endParaRPr lang="en-US" sz="1250" dirty="0"/>
          </a:p>
        </p:txBody>
      </p:sp>
      <p:sp>
        <p:nvSpPr>
          <p:cNvPr id="15" name="Text 13"/>
          <p:cNvSpPr/>
          <p:nvPr/>
        </p:nvSpPr>
        <p:spPr>
          <a:xfrm>
            <a:off x="868680" y="4654296"/>
            <a:ext cx="5394960" cy="411480"/>
          </a:xfrm>
          <a:prstGeom prst="rect">
            <a:avLst/>
          </a:prstGeom>
          <a:noFill/>
          <a:ln/>
        </p:spPr>
        <p:txBody>
          <a:bodyPr wrap="square" lIns="0" tIns="0" rIns="0" bIns="0" rtlCol="0" anchor="ctr"/>
          <a:lstStyle/>
          <a:p>
            <a:pPr marL="0" indent="0">
              <a:lnSpc>
                <a:spcPct val="115000"/>
              </a:lnSpc>
              <a:buNone/>
            </a:pPr>
            <a:r>
              <a:rPr lang="en-US" sz="1050" dirty="0">
                <a:solidFill>
                  <a:srgbClr val="6B6F85"/>
                </a:solidFill>
                <a:latin typeface="Calibri" pitchFamily="34" charset="0"/>
                <a:ea typeface="Calibri" pitchFamily="34" charset="-122"/>
                <a:cs typeface="Calibri" pitchFamily="34" charset="-120"/>
              </a:rPr>
              <a:t>Auto-route, engineer review, or urgent escalation — by confidence</a:t>
            </a:r>
            <a:endParaRPr lang="en-US" sz="1050" dirty="0"/>
          </a:p>
        </p:txBody>
      </p:sp>
      <p:sp>
        <p:nvSpPr>
          <p:cNvPr id="16" name="Shape 14"/>
          <p:cNvSpPr/>
          <p:nvPr/>
        </p:nvSpPr>
        <p:spPr>
          <a:xfrm>
            <a:off x="6355080" y="1051560"/>
            <a:ext cx="5257800" cy="5349240"/>
          </a:xfrm>
          <a:prstGeom prst="roundRect">
            <a:avLst>
              <a:gd name="adj" fmla="val 1739"/>
            </a:avLst>
          </a:prstGeom>
          <a:solidFill>
            <a:srgbClr val="0B0E17"/>
          </a:solidFill>
          <a:ln w="12700">
            <a:solidFill>
              <a:srgbClr val="D8DAE3"/>
            </a:solidFill>
            <a:prstDash val="solid"/>
          </a:ln>
        </p:spPr>
      </p:sp>
      <p:pic>
        <p:nvPicPr>
          <p:cNvPr id="17" name="Image 0" descr="./dashboard_diagnosis.png"/>
          <p:cNvPicPr>
            <a:picLocks noChangeAspect="1"/>
          </p:cNvPicPr>
          <p:nvPr/>
        </p:nvPicPr>
        <p:blipFill>
          <a:blip r:embed="rId3"/>
          <a:stretch>
            <a:fillRect/>
          </a:stretch>
        </p:blipFill>
        <p:spPr>
          <a:xfrm>
            <a:off x="6473952" y="1170432"/>
            <a:ext cx="5020056" cy="5111496"/>
          </a:xfrm>
          <a:prstGeom prst="rect">
            <a:avLst/>
          </a:prstGeom>
        </p:spPr>
      </p:pic>
      <p:sp>
        <p:nvSpPr>
          <p:cNvPr id="18" name="Text 15"/>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6B6F85"/>
                </a:solidFill>
                <a:latin typeface="Calibri" pitchFamily="34" charset="0"/>
                <a:ea typeface="Calibri" pitchFamily="34" charset="-122"/>
                <a:cs typeface="Calibri" pitchFamily="34" charset="-120"/>
              </a:rPr>
              <a:t>Agentic AI Predictive Maintenance</a:t>
            </a:r>
            <a:endParaRPr lang="en-US" sz="1000" dirty="0"/>
          </a:p>
        </p:txBody>
      </p:sp>
      <p:sp>
        <p:nvSpPr>
          <p:cNvPr id="19"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6F8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buNone/>
            </a:pPr>
            <a:r>
              <a:rPr lang="en-US" sz="1200" b="1" kern="0" spc="100" dirty="0">
                <a:solidFill>
                  <a:srgbClr val="02C39A"/>
                </a:solidFill>
                <a:latin typeface="Calibri" pitchFamily="34" charset="0"/>
                <a:ea typeface="Calibri" pitchFamily="34" charset="-122"/>
                <a:cs typeface="Calibri" pitchFamily="34" charset="-120"/>
              </a:rPr>
              <a:t>HONEST EVALUATION</a:t>
            </a:r>
            <a:endParaRPr lang="en-US" sz="1200" dirty="0"/>
          </a:p>
        </p:txBody>
      </p:sp>
      <p:sp>
        <p:nvSpPr>
          <p:cNvPr id="3" name="Text 1"/>
          <p:cNvSpPr/>
          <p:nvPr/>
        </p:nvSpPr>
        <p:spPr>
          <a:xfrm>
            <a:off x="640080" y="777240"/>
            <a:ext cx="10515600" cy="594360"/>
          </a:xfrm>
          <a:prstGeom prst="rect">
            <a:avLst/>
          </a:prstGeom>
          <a:noFill/>
          <a:ln/>
        </p:spPr>
        <p:txBody>
          <a:bodyPr wrap="square" lIns="0" tIns="0" rIns="0" bIns="0" rtlCol="0" anchor="ctr"/>
          <a:lstStyle/>
          <a:p>
            <a:pPr marL="0" indent="0">
              <a:buNone/>
            </a:pPr>
            <a:r>
              <a:rPr lang="en-US" sz="2600" b="1" dirty="0">
                <a:solidFill>
                  <a:srgbClr val="1C1C28"/>
                </a:solidFill>
                <a:latin typeface="Cambria" pitchFamily="34" charset="0"/>
                <a:ea typeface="Cambria" pitchFamily="34" charset="-122"/>
                <a:cs typeface="Cambria" pitchFamily="34" charset="-120"/>
              </a:rPr>
              <a:t>What's proven, and what's a known limitation</a:t>
            </a:r>
            <a:endParaRPr lang="en-US" sz="2600" dirty="0"/>
          </a:p>
        </p:txBody>
      </p:sp>
      <p:sp>
        <p:nvSpPr>
          <p:cNvPr id="4" name="Shape 2"/>
          <p:cNvSpPr/>
          <p:nvPr/>
        </p:nvSpPr>
        <p:spPr>
          <a:xfrm>
            <a:off x="640080" y="1600200"/>
            <a:ext cx="5257800" cy="4434840"/>
          </a:xfrm>
          <a:prstGeom prst="roundRect">
            <a:avLst>
              <a:gd name="adj" fmla="val 2062"/>
            </a:avLst>
          </a:prstGeom>
          <a:solidFill>
            <a:srgbClr val="EAF6EF"/>
          </a:solidFill>
          <a:ln/>
        </p:spPr>
      </p:sp>
      <p:sp>
        <p:nvSpPr>
          <p:cNvPr id="5" name="Text 3"/>
          <p:cNvSpPr/>
          <p:nvPr/>
        </p:nvSpPr>
        <p:spPr>
          <a:xfrm>
            <a:off x="914400" y="1810512"/>
            <a:ext cx="4572000" cy="320040"/>
          </a:xfrm>
          <a:prstGeom prst="rect">
            <a:avLst/>
          </a:prstGeom>
          <a:noFill/>
          <a:ln/>
        </p:spPr>
        <p:txBody>
          <a:bodyPr wrap="square" rtlCol="0" anchor="ctr"/>
          <a:lstStyle/>
          <a:p>
            <a:pPr marL="0" indent="0">
              <a:buNone/>
            </a:pPr>
            <a:r>
              <a:rPr lang="en-US" sz="1200" b="1" kern="0" spc="100" dirty="0">
                <a:solidFill>
                  <a:srgbClr val="2E9E5B"/>
                </a:solidFill>
                <a:latin typeface="Calibri" pitchFamily="34" charset="0"/>
                <a:ea typeface="Calibri" pitchFamily="34" charset="-122"/>
                <a:cs typeface="Calibri" pitchFamily="34" charset="-120"/>
              </a:rPr>
              <a:t>PROVEN</a:t>
            </a:r>
            <a:endParaRPr lang="en-US" sz="1200" dirty="0"/>
          </a:p>
        </p:txBody>
      </p:sp>
      <p:sp>
        <p:nvSpPr>
          <p:cNvPr id="6" name="Text 4"/>
          <p:cNvSpPr/>
          <p:nvPr/>
        </p:nvSpPr>
        <p:spPr>
          <a:xfrm>
            <a:off x="914400" y="2212848"/>
            <a:ext cx="274320" cy="384048"/>
          </a:xfrm>
          <a:prstGeom prst="rect">
            <a:avLst/>
          </a:prstGeom>
          <a:noFill/>
          <a:ln/>
        </p:spPr>
        <p:txBody>
          <a:bodyPr wrap="square" lIns="0" tIns="0" rIns="0" bIns="0" rtlCol="0" anchor="ctr"/>
          <a:lstStyle/>
          <a:p>
            <a:pPr marL="0" indent="0">
              <a:buNone/>
            </a:pPr>
            <a:r>
              <a:rPr lang="en-US" sz="1300" b="1" dirty="0">
                <a:solidFill>
                  <a:srgbClr val="2E9E5B"/>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234440" y="2212848"/>
            <a:ext cx="4480560" cy="384048"/>
          </a:xfrm>
          <a:prstGeom prst="rect">
            <a:avLst/>
          </a:prstGeom>
          <a:noFill/>
          <a:ln/>
        </p:spPr>
        <p:txBody>
          <a:bodyPr wrap="square" lIns="0" tIns="0" rIns="0" bIns="0" rtlCol="0" anchor="ctr"/>
          <a:lstStyle/>
          <a:p>
            <a:pPr marL="0" indent="0">
              <a:lnSpc>
                <a:spcPct val="110000"/>
              </a:lnSpc>
              <a:buNone/>
            </a:pPr>
            <a:r>
              <a:rPr lang="en-US" sz="1150" dirty="0">
                <a:solidFill>
                  <a:srgbClr val="1C1C28"/>
                </a:solidFill>
                <a:latin typeface="Calibri" pitchFamily="34" charset="0"/>
                <a:ea typeface="Calibri" pitchFamily="34" charset="-122"/>
                <a:cs typeface="Calibri" pitchFamily="34" charset="-120"/>
              </a:rPr>
              <a:t>MTBF-driven prioritization, from real failure gaps</a:t>
            </a:r>
            <a:endParaRPr lang="en-US" sz="1150" dirty="0"/>
          </a:p>
        </p:txBody>
      </p:sp>
      <p:sp>
        <p:nvSpPr>
          <p:cNvPr id="8" name="Text 6"/>
          <p:cNvSpPr/>
          <p:nvPr/>
        </p:nvSpPr>
        <p:spPr>
          <a:xfrm>
            <a:off x="914400" y="2743200"/>
            <a:ext cx="274320" cy="384048"/>
          </a:xfrm>
          <a:prstGeom prst="rect">
            <a:avLst/>
          </a:prstGeom>
          <a:noFill/>
          <a:ln/>
        </p:spPr>
        <p:txBody>
          <a:bodyPr wrap="square" lIns="0" tIns="0" rIns="0" bIns="0" rtlCol="0" anchor="ctr"/>
          <a:lstStyle/>
          <a:p>
            <a:pPr marL="0" indent="0">
              <a:buNone/>
            </a:pPr>
            <a:r>
              <a:rPr lang="en-US" sz="1300" b="1" dirty="0">
                <a:solidFill>
                  <a:srgbClr val="2E9E5B"/>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1234440" y="2743200"/>
            <a:ext cx="4480560" cy="384048"/>
          </a:xfrm>
          <a:prstGeom prst="rect">
            <a:avLst/>
          </a:prstGeom>
          <a:noFill/>
          <a:ln/>
        </p:spPr>
        <p:txBody>
          <a:bodyPr wrap="square" lIns="0" tIns="0" rIns="0" bIns="0" rtlCol="0" anchor="ctr"/>
          <a:lstStyle/>
          <a:p>
            <a:pPr marL="0" indent="0">
              <a:lnSpc>
                <a:spcPct val="110000"/>
              </a:lnSpc>
              <a:buNone/>
            </a:pPr>
            <a:r>
              <a:rPr lang="en-US" sz="1150" dirty="0">
                <a:solidFill>
                  <a:srgbClr val="1C1C28"/>
                </a:solidFill>
                <a:latin typeface="Calibri" pitchFamily="34" charset="0"/>
                <a:ea typeface="Calibri" pitchFamily="34" charset="-122"/>
                <a:cs typeface="Calibri" pitchFamily="34" charset="-120"/>
              </a:rPr>
              <a:t>Diagnoses grounded in retrieved real historical cases</a:t>
            </a:r>
            <a:endParaRPr lang="en-US" sz="1150" dirty="0"/>
          </a:p>
        </p:txBody>
      </p:sp>
      <p:sp>
        <p:nvSpPr>
          <p:cNvPr id="10" name="Text 8"/>
          <p:cNvSpPr/>
          <p:nvPr/>
        </p:nvSpPr>
        <p:spPr>
          <a:xfrm>
            <a:off x="914400" y="3273552"/>
            <a:ext cx="274320" cy="384048"/>
          </a:xfrm>
          <a:prstGeom prst="rect">
            <a:avLst/>
          </a:prstGeom>
          <a:noFill/>
          <a:ln/>
        </p:spPr>
        <p:txBody>
          <a:bodyPr wrap="square" lIns="0" tIns="0" rIns="0" bIns="0" rtlCol="0" anchor="ctr"/>
          <a:lstStyle/>
          <a:p>
            <a:pPr marL="0" indent="0">
              <a:buNone/>
            </a:pPr>
            <a:r>
              <a:rPr lang="en-US" sz="1300" b="1" dirty="0">
                <a:solidFill>
                  <a:srgbClr val="2E9E5B"/>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1234440" y="3273552"/>
            <a:ext cx="4480560" cy="384048"/>
          </a:xfrm>
          <a:prstGeom prst="rect">
            <a:avLst/>
          </a:prstGeom>
          <a:noFill/>
          <a:ln/>
        </p:spPr>
        <p:txBody>
          <a:bodyPr wrap="square" lIns="0" tIns="0" rIns="0" bIns="0" rtlCol="0" anchor="ctr"/>
          <a:lstStyle/>
          <a:p>
            <a:pPr marL="0" indent="0">
              <a:lnSpc>
                <a:spcPct val="110000"/>
              </a:lnSpc>
              <a:buNone/>
            </a:pPr>
            <a:r>
              <a:rPr lang="en-US" sz="1150" dirty="0">
                <a:solidFill>
                  <a:srgbClr val="1C1C28"/>
                </a:solidFill>
                <a:latin typeface="Calibri" pitchFamily="34" charset="0"/>
                <a:ea typeface="Calibri" pitchFamily="34" charset="-122"/>
                <a:cs typeface="Calibri" pitchFamily="34" charset="-120"/>
              </a:rPr>
              <a:t>Recommendations grounded in real repair records</a:t>
            </a:r>
            <a:endParaRPr lang="en-US" sz="1150" dirty="0"/>
          </a:p>
        </p:txBody>
      </p:sp>
      <p:sp>
        <p:nvSpPr>
          <p:cNvPr id="12" name="Text 10"/>
          <p:cNvSpPr/>
          <p:nvPr/>
        </p:nvSpPr>
        <p:spPr>
          <a:xfrm>
            <a:off x="914400" y="3803904"/>
            <a:ext cx="274320" cy="384048"/>
          </a:xfrm>
          <a:prstGeom prst="rect">
            <a:avLst/>
          </a:prstGeom>
          <a:noFill/>
          <a:ln/>
        </p:spPr>
        <p:txBody>
          <a:bodyPr wrap="square" lIns="0" tIns="0" rIns="0" bIns="0" rtlCol="0" anchor="ctr"/>
          <a:lstStyle/>
          <a:p>
            <a:pPr marL="0" indent="0">
              <a:buNone/>
            </a:pPr>
            <a:r>
              <a:rPr lang="en-US" sz="1300" b="1" dirty="0">
                <a:solidFill>
                  <a:srgbClr val="2E9E5B"/>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1234440" y="3803904"/>
            <a:ext cx="4480560" cy="384048"/>
          </a:xfrm>
          <a:prstGeom prst="rect">
            <a:avLst/>
          </a:prstGeom>
          <a:noFill/>
          <a:ln/>
        </p:spPr>
        <p:txBody>
          <a:bodyPr wrap="square" lIns="0" tIns="0" rIns="0" bIns="0" rtlCol="0" anchor="ctr"/>
          <a:lstStyle/>
          <a:p>
            <a:pPr marL="0" indent="0">
              <a:lnSpc>
                <a:spcPct val="110000"/>
              </a:lnSpc>
              <a:buNone/>
            </a:pPr>
            <a:r>
              <a:rPr lang="en-US" sz="1150" dirty="0">
                <a:solidFill>
                  <a:srgbClr val="1C1C28"/>
                </a:solidFill>
                <a:latin typeface="Calibri" pitchFamily="34" charset="0"/>
                <a:ea typeface="Calibri" pitchFamily="34" charset="-122"/>
                <a:cs typeface="Calibri" pitchFamily="34" charset="-120"/>
              </a:rPr>
              <a:t>94.7% recall / 93.6% precision, rigorously backtested</a:t>
            </a:r>
            <a:endParaRPr lang="en-US" sz="1150" dirty="0"/>
          </a:p>
        </p:txBody>
      </p:sp>
      <p:sp>
        <p:nvSpPr>
          <p:cNvPr id="14" name="Text 12"/>
          <p:cNvSpPr/>
          <p:nvPr/>
        </p:nvSpPr>
        <p:spPr>
          <a:xfrm>
            <a:off x="914400" y="4334256"/>
            <a:ext cx="274320" cy="384048"/>
          </a:xfrm>
          <a:prstGeom prst="rect">
            <a:avLst/>
          </a:prstGeom>
          <a:noFill/>
          <a:ln/>
        </p:spPr>
        <p:txBody>
          <a:bodyPr wrap="square" lIns="0" tIns="0" rIns="0" bIns="0" rtlCol="0" anchor="ctr"/>
          <a:lstStyle/>
          <a:p>
            <a:pPr marL="0" indent="0">
              <a:buNone/>
            </a:pPr>
            <a:r>
              <a:rPr lang="en-US" sz="1300" b="1" dirty="0">
                <a:solidFill>
                  <a:srgbClr val="2E9E5B"/>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1234440" y="4334256"/>
            <a:ext cx="4480560" cy="384048"/>
          </a:xfrm>
          <a:prstGeom prst="rect">
            <a:avLst/>
          </a:prstGeom>
          <a:noFill/>
          <a:ln/>
        </p:spPr>
        <p:txBody>
          <a:bodyPr wrap="square" lIns="0" tIns="0" rIns="0" bIns="0" rtlCol="0" anchor="ctr"/>
          <a:lstStyle/>
          <a:p>
            <a:pPr marL="0" indent="0">
              <a:lnSpc>
                <a:spcPct val="110000"/>
              </a:lnSpc>
              <a:buNone/>
            </a:pPr>
            <a:r>
              <a:rPr lang="en-US" sz="1150" dirty="0">
                <a:solidFill>
                  <a:srgbClr val="1C1C28"/>
                </a:solidFill>
                <a:latin typeface="Calibri" pitchFamily="34" charset="0"/>
                <a:ea typeface="Calibri" pitchFamily="34" charset="-122"/>
                <a:cs typeface="Calibri" pitchFamily="34" charset="-120"/>
              </a:rPr>
              <a:t>Zero simulated data anywhere in the pipeline</a:t>
            </a:r>
            <a:endParaRPr lang="en-US" sz="1150" dirty="0"/>
          </a:p>
        </p:txBody>
      </p:sp>
      <p:sp>
        <p:nvSpPr>
          <p:cNvPr id="16" name="Shape 14"/>
          <p:cNvSpPr/>
          <p:nvPr/>
        </p:nvSpPr>
        <p:spPr>
          <a:xfrm>
            <a:off x="6263640" y="1600200"/>
            <a:ext cx="5303520" cy="4434840"/>
          </a:xfrm>
          <a:prstGeom prst="roundRect">
            <a:avLst>
              <a:gd name="adj" fmla="val 2062"/>
            </a:avLst>
          </a:prstGeom>
          <a:solidFill>
            <a:srgbClr val="FBEEEA"/>
          </a:solidFill>
          <a:ln/>
        </p:spPr>
      </p:sp>
      <p:sp>
        <p:nvSpPr>
          <p:cNvPr id="17" name="Text 15"/>
          <p:cNvSpPr/>
          <p:nvPr/>
        </p:nvSpPr>
        <p:spPr>
          <a:xfrm>
            <a:off x="6537960" y="1810512"/>
            <a:ext cx="4754880" cy="320040"/>
          </a:xfrm>
          <a:prstGeom prst="rect">
            <a:avLst/>
          </a:prstGeom>
          <a:noFill/>
          <a:ln/>
        </p:spPr>
        <p:txBody>
          <a:bodyPr wrap="square" rtlCol="0" anchor="ctr"/>
          <a:lstStyle/>
          <a:p>
            <a:pPr marL="0" indent="0">
              <a:buNone/>
            </a:pPr>
            <a:r>
              <a:rPr lang="en-US" sz="1200" b="1" kern="0" spc="100" dirty="0">
                <a:solidFill>
                  <a:srgbClr val="C94A3D"/>
                </a:solidFill>
                <a:latin typeface="Calibri" pitchFamily="34" charset="0"/>
                <a:ea typeface="Calibri" pitchFamily="34" charset="-122"/>
                <a:cs typeface="Calibri" pitchFamily="34" charset="-120"/>
              </a:rPr>
              <a:t>KNOWN LIMITATIONS</a:t>
            </a:r>
            <a:endParaRPr lang="en-US" sz="1200" dirty="0"/>
          </a:p>
        </p:txBody>
      </p:sp>
      <p:sp>
        <p:nvSpPr>
          <p:cNvPr id="18" name="Text 16"/>
          <p:cNvSpPr/>
          <p:nvPr/>
        </p:nvSpPr>
        <p:spPr>
          <a:xfrm>
            <a:off x="6537960" y="2212848"/>
            <a:ext cx="274320" cy="457200"/>
          </a:xfrm>
          <a:prstGeom prst="rect">
            <a:avLst/>
          </a:prstGeom>
          <a:noFill/>
          <a:ln/>
        </p:spPr>
        <p:txBody>
          <a:bodyPr wrap="square" lIns="0" tIns="0" rIns="0" bIns="0" rtlCol="0" anchor="ctr"/>
          <a:lstStyle/>
          <a:p>
            <a:pPr marL="0" indent="0">
              <a:buNone/>
            </a:pPr>
            <a:r>
              <a:rPr lang="en-US" sz="1300" b="1" dirty="0">
                <a:solidFill>
                  <a:srgbClr val="C94A3D"/>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6858000" y="2212848"/>
            <a:ext cx="4617720" cy="457200"/>
          </a:xfrm>
          <a:prstGeom prst="rect">
            <a:avLst/>
          </a:prstGeom>
          <a:noFill/>
          <a:ln/>
        </p:spPr>
        <p:txBody>
          <a:bodyPr wrap="square" lIns="0" tIns="0" rIns="0" bIns="0" rtlCol="0" anchor="ctr"/>
          <a:lstStyle/>
          <a:p>
            <a:pPr marL="0" indent="0">
              <a:lnSpc>
                <a:spcPct val="110000"/>
              </a:lnSpc>
              <a:buNone/>
            </a:pPr>
            <a:r>
              <a:rPr lang="en-US" sz="1100" dirty="0">
                <a:solidFill>
                  <a:srgbClr val="1C1C28"/>
                </a:solidFill>
                <a:latin typeface="Calibri" pitchFamily="34" charset="0"/>
                <a:ea typeface="Calibri" pitchFamily="34" charset="-122"/>
                <a:cs typeface="Calibri" pitchFamily="34" charset="-120"/>
              </a:rPr>
              <a:t>Ambiguous dual-signal cases can still produce a confident wrong diagnosis</a:t>
            </a:r>
            <a:endParaRPr lang="en-US" sz="1100" dirty="0"/>
          </a:p>
        </p:txBody>
      </p:sp>
      <p:sp>
        <p:nvSpPr>
          <p:cNvPr id="20" name="Text 18"/>
          <p:cNvSpPr/>
          <p:nvPr/>
        </p:nvSpPr>
        <p:spPr>
          <a:xfrm>
            <a:off x="6537960" y="2779776"/>
            <a:ext cx="274320" cy="457200"/>
          </a:xfrm>
          <a:prstGeom prst="rect">
            <a:avLst/>
          </a:prstGeom>
          <a:noFill/>
          <a:ln/>
        </p:spPr>
        <p:txBody>
          <a:bodyPr wrap="square" lIns="0" tIns="0" rIns="0" bIns="0" rtlCol="0" anchor="ctr"/>
          <a:lstStyle/>
          <a:p>
            <a:pPr marL="0" indent="0">
              <a:buNone/>
            </a:pPr>
            <a:r>
              <a:rPr lang="en-US" sz="1300" b="1" dirty="0">
                <a:solidFill>
                  <a:srgbClr val="C94A3D"/>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6858000" y="2779776"/>
            <a:ext cx="4617720" cy="457200"/>
          </a:xfrm>
          <a:prstGeom prst="rect">
            <a:avLst/>
          </a:prstGeom>
          <a:noFill/>
          <a:ln/>
        </p:spPr>
        <p:txBody>
          <a:bodyPr wrap="square" lIns="0" tIns="0" rIns="0" bIns="0" rtlCol="0" anchor="ctr"/>
          <a:lstStyle/>
          <a:p>
            <a:pPr marL="0" indent="0">
              <a:lnSpc>
                <a:spcPct val="110000"/>
              </a:lnSpc>
              <a:buNone/>
            </a:pPr>
            <a:r>
              <a:rPr lang="en-US" sz="1100" dirty="0">
                <a:solidFill>
                  <a:srgbClr val="1C1C28"/>
                </a:solidFill>
                <a:latin typeface="Calibri" pitchFamily="34" charset="0"/>
                <a:ea typeface="Calibri" pitchFamily="34" charset="-122"/>
                <a:cs typeface="Calibri" pitchFamily="34" charset="-120"/>
              </a:rPr>
              <a:t>Sensor telemetry, not raw vibration/acoustic waveform — no true NVH signal processing</a:t>
            </a:r>
            <a:endParaRPr lang="en-US" sz="1100" dirty="0"/>
          </a:p>
        </p:txBody>
      </p:sp>
      <p:sp>
        <p:nvSpPr>
          <p:cNvPr id="22" name="Text 20"/>
          <p:cNvSpPr/>
          <p:nvPr/>
        </p:nvSpPr>
        <p:spPr>
          <a:xfrm>
            <a:off x="6537960" y="3346704"/>
            <a:ext cx="274320" cy="457200"/>
          </a:xfrm>
          <a:prstGeom prst="rect">
            <a:avLst/>
          </a:prstGeom>
          <a:noFill/>
          <a:ln/>
        </p:spPr>
        <p:txBody>
          <a:bodyPr wrap="square" lIns="0" tIns="0" rIns="0" bIns="0" rtlCol="0" anchor="ctr"/>
          <a:lstStyle/>
          <a:p>
            <a:pPr marL="0" indent="0">
              <a:buNone/>
            </a:pPr>
            <a:r>
              <a:rPr lang="en-US" sz="1300" b="1" dirty="0">
                <a:solidFill>
                  <a:srgbClr val="C94A3D"/>
                </a:solidFill>
                <a:latin typeface="Calibri" pitchFamily="34" charset="0"/>
                <a:ea typeface="Calibri" pitchFamily="34" charset="-122"/>
                <a:cs typeface="Calibri" pitchFamily="34" charset="-120"/>
              </a:rPr>
              <a:t>!</a:t>
            </a:r>
            <a:endParaRPr lang="en-US" sz="1300" dirty="0"/>
          </a:p>
        </p:txBody>
      </p:sp>
      <p:sp>
        <p:nvSpPr>
          <p:cNvPr id="23" name="Text 21"/>
          <p:cNvSpPr/>
          <p:nvPr/>
        </p:nvSpPr>
        <p:spPr>
          <a:xfrm>
            <a:off x="6858000" y="3346704"/>
            <a:ext cx="4617720" cy="457200"/>
          </a:xfrm>
          <a:prstGeom prst="rect">
            <a:avLst/>
          </a:prstGeom>
          <a:noFill/>
          <a:ln/>
        </p:spPr>
        <p:txBody>
          <a:bodyPr wrap="square" lIns="0" tIns="0" rIns="0" bIns="0" rtlCol="0" anchor="ctr"/>
          <a:lstStyle/>
          <a:p>
            <a:pPr marL="0" indent="0">
              <a:lnSpc>
                <a:spcPct val="110000"/>
              </a:lnSpc>
              <a:buNone/>
            </a:pPr>
            <a:r>
              <a:rPr lang="en-US" sz="1100" dirty="0">
                <a:solidFill>
                  <a:srgbClr val="1C1C28"/>
                </a:solidFill>
                <a:latin typeface="Calibri" pitchFamily="34" charset="0"/>
                <a:ea typeface="Calibri" pitchFamily="34" charset="-122"/>
                <a:cs typeface="Calibri" pitchFamily="34" charset="-120"/>
              </a:rPr>
              <a:t>Reflects which component failed, not the physical root cause/mechanism</a:t>
            </a:r>
            <a:endParaRPr lang="en-US" sz="1100" dirty="0"/>
          </a:p>
        </p:txBody>
      </p:sp>
      <p:sp>
        <p:nvSpPr>
          <p:cNvPr id="24" name="Text 22"/>
          <p:cNvSpPr/>
          <p:nvPr/>
        </p:nvSpPr>
        <p:spPr>
          <a:xfrm>
            <a:off x="6537960" y="3913632"/>
            <a:ext cx="274320" cy="457200"/>
          </a:xfrm>
          <a:prstGeom prst="rect">
            <a:avLst/>
          </a:prstGeom>
          <a:noFill/>
          <a:ln/>
        </p:spPr>
        <p:txBody>
          <a:bodyPr wrap="square" lIns="0" tIns="0" rIns="0" bIns="0" rtlCol="0" anchor="ctr"/>
          <a:lstStyle/>
          <a:p>
            <a:pPr marL="0" indent="0">
              <a:buNone/>
            </a:pPr>
            <a:r>
              <a:rPr lang="en-US" sz="1300" b="1" dirty="0">
                <a:solidFill>
                  <a:srgbClr val="C94A3D"/>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6858000" y="3913632"/>
            <a:ext cx="4617720" cy="457200"/>
          </a:xfrm>
          <a:prstGeom prst="rect">
            <a:avLst/>
          </a:prstGeom>
          <a:noFill/>
          <a:ln/>
        </p:spPr>
        <p:txBody>
          <a:bodyPr wrap="square" lIns="0" tIns="0" rIns="0" bIns="0" rtlCol="0" anchor="ctr"/>
          <a:lstStyle/>
          <a:p>
            <a:pPr marL="0" indent="0">
              <a:lnSpc>
                <a:spcPct val="110000"/>
              </a:lnSpc>
              <a:buNone/>
            </a:pPr>
            <a:r>
              <a:rPr lang="en-US" sz="1100" dirty="0">
                <a:solidFill>
                  <a:srgbClr val="1C1C28"/>
                </a:solidFill>
                <a:latin typeface="Calibri" pitchFamily="34" charset="0"/>
                <a:ea typeface="Calibri" pitchFamily="34" charset="-122"/>
                <a:cs typeface="Calibri" pitchFamily="34" charset="-120"/>
              </a:rPr>
              <a:t>On-demand checks today — continuous monitoring &amp; alerting not yet built</a:t>
            </a:r>
            <a:endParaRPr lang="en-US" sz="1100" dirty="0"/>
          </a:p>
        </p:txBody>
      </p:sp>
      <p:sp>
        <p:nvSpPr>
          <p:cNvPr id="26" name="Text 24"/>
          <p:cNvSpPr/>
          <p:nvPr/>
        </p:nvSpPr>
        <p:spPr>
          <a:xfrm>
            <a:off x="6537960" y="4480560"/>
            <a:ext cx="274320" cy="457200"/>
          </a:xfrm>
          <a:prstGeom prst="rect">
            <a:avLst/>
          </a:prstGeom>
          <a:noFill/>
          <a:ln/>
        </p:spPr>
        <p:txBody>
          <a:bodyPr wrap="square" lIns="0" tIns="0" rIns="0" bIns="0" rtlCol="0" anchor="ctr"/>
          <a:lstStyle/>
          <a:p>
            <a:pPr marL="0" indent="0">
              <a:buNone/>
            </a:pPr>
            <a:r>
              <a:rPr lang="en-US" sz="1300" b="1" dirty="0">
                <a:solidFill>
                  <a:srgbClr val="C94A3D"/>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6858000" y="4480560"/>
            <a:ext cx="4617720" cy="457200"/>
          </a:xfrm>
          <a:prstGeom prst="rect">
            <a:avLst/>
          </a:prstGeom>
          <a:noFill/>
          <a:ln/>
        </p:spPr>
        <p:txBody>
          <a:bodyPr wrap="square" lIns="0" tIns="0" rIns="0" bIns="0" rtlCol="0" anchor="ctr"/>
          <a:lstStyle/>
          <a:p>
            <a:pPr marL="0" indent="0">
              <a:lnSpc>
                <a:spcPct val="110000"/>
              </a:lnSpc>
              <a:buNone/>
            </a:pPr>
            <a:r>
              <a:rPr lang="en-US" sz="1100" dirty="0">
                <a:solidFill>
                  <a:srgbClr val="1C1C28"/>
                </a:solidFill>
                <a:latin typeface="Calibri" pitchFamily="34" charset="0"/>
                <a:ea typeface="Calibri" pitchFamily="34" charset="-122"/>
                <a:cs typeface="Calibri" pitchFamily="34" charset="-120"/>
              </a:rPr>
              <a:t>A validated solution today, not yet a repeatable multi-client product</a:t>
            </a:r>
            <a:endParaRPr lang="en-US" sz="1100" dirty="0"/>
          </a:p>
        </p:txBody>
      </p:sp>
      <p:sp>
        <p:nvSpPr>
          <p:cNvPr id="28" name="Text 26"/>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6B6F85"/>
                </a:solidFill>
                <a:latin typeface="Calibri" pitchFamily="34" charset="0"/>
                <a:ea typeface="Calibri" pitchFamily="34" charset="-122"/>
                <a:cs typeface="Calibri" pitchFamily="34" charset="-120"/>
              </a:rPr>
              <a:t>Agentic AI Predictive Maintenance</a:t>
            </a:r>
            <a:endParaRPr lang="en-US" sz="1000" dirty="0"/>
          </a:p>
        </p:txBody>
      </p:sp>
      <p:sp>
        <p:nvSpPr>
          <p:cNvPr id="29" name="Text 27"/>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6F8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buNone/>
            </a:pPr>
            <a:r>
              <a:rPr lang="en-US" sz="1200" b="1" kern="0" spc="100" dirty="0">
                <a:solidFill>
                  <a:srgbClr val="02C39A"/>
                </a:solidFill>
                <a:latin typeface="Calibri" pitchFamily="34" charset="0"/>
                <a:ea typeface="Calibri" pitchFamily="34" charset="-122"/>
                <a:cs typeface="Calibri" pitchFamily="34" charset="-120"/>
              </a:rPr>
              <a:t>WHAT'S NEXT</a:t>
            </a:r>
            <a:endParaRPr lang="en-US" sz="1200" dirty="0"/>
          </a:p>
        </p:txBody>
      </p:sp>
      <p:sp>
        <p:nvSpPr>
          <p:cNvPr id="3" name="Text 1"/>
          <p:cNvSpPr/>
          <p:nvPr/>
        </p:nvSpPr>
        <p:spPr>
          <a:xfrm>
            <a:off x="640080" y="777240"/>
            <a:ext cx="10515600" cy="594360"/>
          </a:xfrm>
          <a:prstGeom prst="rect">
            <a:avLst/>
          </a:prstGeom>
          <a:noFill/>
          <a:ln/>
        </p:spPr>
        <p:txBody>
          <a:bodyPr wrap="square" lIns="0" tIns="0" rIns="0" bIns="0" rtlCol="0" anchor="ctr"/>
          <a:lstStyle/>
          <a:p>
            <a:pPr marL="0" indent="0">
              <a:buNone/>
            </a:pPr>
            <a:r>
              <a:rPr lang="en-US" sz="2600" b="1" dirty="0">
                <a:solidFill>
                  <a:srgbClr val="1C1C28"/>
                </a:solidFill>
                <a:latin typeface="Cambria" pitchFamily="34" charset="0"/>
                <a:ea typeface="Cambria" pitchFamily="34" charset="-122"/>
                <a:cs typeface="Cambria" pitchFamily="34" charset="-120"/>
              </a:rPr>
              <a:t>From validated PoC to pilot-ready system</a:t>
            </a:r>
            <a:endParaRPr lang="en-US" sz="2600" dirty="0"/>
          </a:p>
        </p:txBody>
      </p:sp>
      <p:sp>
        <p:nvSpPr>
          <p:cNvPr id="4" name="Shape 2"/>
          <p:cNvSpPr/>
          <p:nvPr/>
        </p:nvSpPr>
        <p:spPr>
          <a:xfrm>
            <a:off x="640080" y="1600200"/>
            <a:ext cx="2615184" cy="3200400"/>
          </a:xfrm>
          <a:prstGeom prst="roundRect">
            <a:avLst>
              <a:gd name="adj" fmla="val 3497"/>
            </a:avLst>
          </a:prstGeom>
          <a:solidFill>
            <a:srgbClr val="1E2761"/>
          </a:solidFill>
          <a:ln/>
        </p:spPr>
      </p:sp>
      <p:sp>
        <p:nvSpPr>
          <p:cNvPr id="5" name="Shape 3"/>
          <p:cNvSpPr/>
          <p:nvPr/>
        </p:nvSpPr>
        <p:spPr>
          <a:xfrm>
            <a:off x="822960" y="1828800"/>
            <a:ext cx="384048" cy="384048"/>
          </a:xfrm>
          <a:prstGeom prst="ellipse">
            <a:avLst/>
          </a:prstGeom>
          <a:solidFill>
            <a:srgbClr val="02C39A"/>
          </a:solidFill>
          <a:ln/>
        </p:spPr>
      </p:sp>
      <p:sp>
        <p:nvSpPr>
          <p:cNvPr id="6" name="Text 4"/>
          <p:cNvSpPr/>
          <p:nvPr/>
        </p:nvSpPr>
        <p:spPr>
          <a:xfrm>
            <a:off x="822960" y="1828800"/>
            <a:ext cx="384048" cy="384048"/>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822960" y="2468880"/>
            <a:ext cx="2249424" cy="731520"/>
          </a:xfrm>
          <a:prstGeom prst="rect">
            <a:avLst/>
          </a:prstGeom>
          <a:noFill/>
          <a:ln/>
        </p:spPr>
        <p:txBody>
          <a:bodyPr wrap="square" lIns="0" tIns="0" rIns="0" bIns="0" rtlCol="0" anchor="ctr"/>
          <a:lstStyle/>
          <a:p>
            <a:pPr marL="0" indent="0">
              <a:lnSpc>
                <a:spcPct val="115000"/>
              </a:lnSpc>
              <a:buNone/>
            </a:pPr>
            <a:r>
              <a:rPr lang="en-US" sz="1450" b="1" dirty="0">
                <a:solidFill>
                  <a:srgbClr val="FFFFFF"/>
                </a:solidFill>
                <a:latin typeface="Calibri" pitchFamily="34" charset="0"/>
                <a:ea typeface="Calibri" pitchFamily="34" charset="-122"/>
                <a:cs typeface="Calibri" pitchFamily="34" charset="-120"/>
              </a:rPr>
              <a:t>Continuous monitoring</a:t>
            </a:r>
            <a:endParaRPr lang="en-US" sz="1450" dirty="0"/>
          </a:p>
        </p:txBody>
      </p:sp>
      <p:sp>
        <p:nvSpPr>
          <p:cNvPr id="8" name="Text 6"/>
          <p:cNvSpPr/>
          <p:nvPr/>
        </p:nvSpPr>
        <p:spPr>
          <a:xfrm>
            <a:off x="822960" y="3200400"/>
            <a:ext cx="2249424" cy="1463040"/>
          </a:xfrm>
          <a:prstGeom prst="rect">
            <a:avLst/>
          </a:prstGeom>
          <a:noFill/>
          <a:ln/>
        </p:spPr>
        <p:txBody>
          <a:bodyPr wrap="square" lIns="0" tIns="0" rIns="0" bIns="0" rtlCol="0" anchor="ctr"/>
          <a:lstStyle/>
          <a:p>
            <a:pPr marL="0" indent="0">
              <a:lnSpc>
                <a:spcPct val="125000"/>
              </a:lnSpc>
              <a:buNone/>
            </a:pPr>
            <a:r>
              <a:rPr lang="en-US" sz="1050" dirty="0">
                <a:solidFill>
                  <a:srgbClr val="CADCFC"/>
                </a:solidFill>
                <a:latin typeface="Calibri" pitchFamily="34" charset="0"/>
                <a:ea typeface="Calibri" pitchFamily="34" charset="-122"/>
                <a:cs typeface="Calibri" pitchFamily="34" charset="-120"/>
              </a:rPr>
              <a:t>Move from on-demand checks to an always-on agent that watches every machine and alerts automatically</a:t>
            </a:r>
            <a:endParaRPr lang="en-US" sz="1050" dirty="0"/>
          </a:p>
        </p:txBody>
      </p:sp>
      <p:sp>
        <p:nvSpPr>
          <p:cNvPr id="9" name="Shape 7"/>
          <p:cNvSpPr/>
          <p:nvPr/>
        </p:nvSpPr>
        <p:spPr>
          <a:xfrm>
            <a:off x="3401568" y="1600200"/>
            <a:ext cx="2615184" cy="3200400"/>
          </a:xfrm>
          <a:prstGeom prst="roundRect">
            <a:avLst>
              <a:gd name="adj" fmla="val 3497"/>
            </a:avLst>
          </a:prstGeom>
          <a:solidFill>
            <a:srgbClr val="1E2761"/>
          </a:solidFill>
          <a:ln/>
        </p:spPr>
      </p:sp>
      <p:sp>
        <p:nvSpPr>
          <p:cNvPr id="10" name="Shape 8"/>
          <p:cNvSpPr/>
          <p:nvPr/>
        </p:nvSpPr>
        <p:spPr>
          <a:xfrm>
            <a:off x="3584448" y="1828800"/>
            <a:ext cx="384048" cy="384048"/>
          </a:xfrm>
          <a:prstGeom prst="ellipse">
            <a:avLst/>
          </a:prstGeom>
          <a:solidFill>
            <a:srgbClr val="02C39A"/>
          </a:solidFill>
          <a:ln/>
        </p:spPr>
      </p:sp>
      <p:sp>
        <p:nvSpPr>
          <p:cNvPr id="11" name="Text 9"/>
          <p:cNvSpPr/>
          <p:nvPr/>
        </p:nvSpPr>
        <p:spPr>
          <a:xfrm>
            <a:off x="3584448" y="1828800"/>
            <a:ext cx="384048" cy="384048"/>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3584448" y="2468880"/>
            <a:ext cx="2249424" cy="731520"/>
          </a:xfrm>
          <a:prstGeom prst="rect">
            <a:avLst/>
          </a:prstGeom>
          <a:noFill/>
          <a:ln/>
        </p:spPr>
        <p:txBody>
          <a:bodyPr wrap="square" lIns="0" tIns="0" rIns="0" bIns="0" rtlCol="0" anchor="ctr"/>
          <a:lstStyle/>
          <a:p>
            <a:pPr marL="0" indent="0">
              <a:lnSpc>
                <a:spcPct val="115000"/>
              </a:lnSpc>
              <a:buNone/>
            </a:pPr>
            <a:r>
              <a:rPr lang="en-US" sz="1450" b="1" dirty="0">
                <a:solidFill>
                  <a:srgbClr val="FFFFFF"/>
                </a:solidFill>
                <a:latin typeface="Calibri" pitchFamily="34" charset="0"/>
                <a:ea typeface="Calibri" pitchFamily="34" charset="-122"/>
                <a:cs typeface="Calibri" pitchFamily="34" charset="-120"/>
              </a:rPr>
              <a:t>Remaining Useful Life (RUL)</a:t>
            </a:r>
            <a:endParaRPr lang="en-US" sz="1450" dirty="0"/>
          </a:p>
        </p:txBody>
      </p:sp>
      <p:sp>
        <p:nvSpPr>
          <p:cNvPr id="13" name="Text 11"/>
          <p:cNvSpPr/>
          <p:nvPr/>
        </p:nvSpPr>
        <p:spPr>
          <a:xfrm>
            <a:off x="3584448" y="3200400"/>
            <a:ext cx="2249424" cy="1463040"/>
          </a:xfrm>
          <a:prstGeom prst="rect">
            <a:avLst/>
          </a:prstGeom>
          <a:noFill/>
          <a:ln/>
        </p:spPr>
        <p:txBody>
          <a:bodyPr wrap="square" lIns="0" tIns="0" rIns="0" bIns="0" rtlCol="0" anchor="ctr"/>
          <a:lstStyle/>
          <a:p>
            <a:pPr marL="0" indent="0">
              <a:lnSpc>
                <a:spcPct val="125000"/>
              </a:lnSpc>
              <a:buNone/>
            </a:pPr>
            <a:r>
              <a:rPr lang="en-US" sz="1050" dirty="0">
                <a:solidFill>
                  <a:srgbClr val="CADCFC"/>
                </a:solidFill>
                <a:latin typeface="Calibri" pitchFamily="34" charset="0"/>
                <a:ea typeface="Calibri" pitchFamily="34" charset="-122"/>
                <a:cs typeface="Calibri" pitchFamily="34" charset="-120"/>
              </a:rPr>
              <a:t>A real time-to-failure estimate, not just a risk category — same dataset, a regression model</a:t>
            </a:r>
            <a:endParaRPr lang="en-US" sz="1050" dirty="0"/>
          </a:p>
        </p:txBody>
      </p:sp>
      <p:sp>
        <p:nvSpPr>
          <p:cNvPr id="14" name="Shape 12"/>
          <p:cNvSpPr/>
          <p:nvPr/>
        </p:nvSpPr>
        <p:spPr>
          <a:xfrm>
            <a:off x="6163056" y="1600200"/>
            <a:ext cx="2615184" cy="3200400"/>
          </a:xfrm>
          <a:prstGeom prst="roundRect">
            <a:avLst>
              <a:gd name="adj" fmla="val 3497"/>
            </a:avLst>
          </a:prstGeom>
          <a:solidFill>
            <a:srgbClr val="1E2761"/>
          </a:solidFill>
          <a:ln/>
        </p:spPr>
      </p:sp>
      <p:sp>
        <p:nvSpPr>
          <p:cNvPr id="15" name="Shape 13"/>
          <p:cNvSpPr/>
          <p:nvPr/>
        </p:nvSpPr>
        <p:spPr>
          <a:xfrm>
            <a:off x="6345936" y="1828800"/>
            <a:ext cx="384048" cy="384048"/>
          </a:xfrm>
          <a:prstGeom prst="ellipse">
            <a:avLst/>
          </a:prstGeom>
          <a:solidFill>
            <a:srgbClr val="02C39A"/>
          </a:solidFill>
          <a:ln/>
        </p:spPr>
      </p:sp>
      <p:sp>
        <p:nvSpPr>
          <p:cNvPr id="16" name="Text 14"/>
          <p:cNvSpPr/>
          <p:nvPr/>
        </p:nvSpPr>
        <p:spPr>
          <a:xfrm>
            <a:off x="6345936" y="1828800"/>
            <a:ext cx="384048" cy="384048"/>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6345936" y="2468880"/>
            <a:ext cx="2249424" cy="731520"/>
          </a:xfrm>
          <a:prstGeom prst="rect">
            <a:avLst/>
          </a:prstGeom>
          <a:noFill/>
          <a:ln/>
        </p:spPr>
        <p:txBody>
          <a:bodyPr wrap="square" lIns="0" tIns="0" rIns="0" bIns="0" rtlCol="0" anchor="ctr"/>
          <a:lstStyle/>
          <a:p>
            <a:pPr marL="0" indent="0">
              <a:lnSpc>
                <a:spcPct val="115000"/>
              </a:lnSpc>
              <a:buNone/>
            </a:pPr>
            <a:r>
              <a:rPr lang="en-US" sz="1450" b="1" dirty="0">
                <a:solidFill>
                  <a:srgbClr val="FFFFFF"/>
                </a:solidFill>
                <a:latin typeface="Calibri" pitchFamily="34" charset="0"/>
                <a:ea typeface="Calibri" pitchFamily="34" charset="-122"/>
                <a:cs typeface="Calibri" pitchFamily="34" charset="-120"/>
              </a:rPr>
              <a:t>Learned sensor weighting</a:t>
            </a:r>
            <a:endParaRPr lang="en-US" sz="1450" dirty="0"/>
          </a:p>
        </p:txBody>
      </p:sp>
      <p:sp>
        <p:nvSpPr>
          <p:cNvPr id="18" name="Text 16"/>
          <p:cNvSpPr/>
          <p:nvPr/>
        </p:nvSpPr>
        <p:spPr>
          <a:xfrm>
            <a:off x="6345936" y="3200400"/>
            <a:ext cx="2249424" cy="1463040"/>
          </a:xfrm>
          <a:prstGeom prst="rect">
            <a:avLst/>
          </a:prstGeom>
          <a:noFill/>
          <a:ln/>
        </p:spPr>
        <p:txBody>
          <a:bodyPr wrap="square" lIns="0" tIns="0" rIns="0" bIns="0" rtlCol="0" anchor="ctr"/>
          <a:lstStyle/>
          <a:p>
            <a:pPr marL="0" indent="0">
              <a:lnSpc>
                <a:spcPct val="125000"/>
              </a:lnSpc>
              <a:buNone/>
            </a:pPr>
            <a:r>
              <a:rPr lang="en-US" sz="1050" dirty="0">
                <a:solidFill>
                  <a:srgbClr val="CADCFC"/>
                </a:solidFill>
                <a:latin typeface="Calibri" pitchFamily="34" charset="0"/>
                <a:ea typeface="Calibri" pitchFamily="34" charset="-122"/>
                <a:cs typeface="Calibri" pitchFamily="34" charset="-120"/>
              </a:rPr>
              <a:t>Adopt data-derived sensor weights (validated, ready) in place of equal weighting</a:t>
            </a:r>
            <a:endParaRPr lang="en-US" sz="1050" dirty="0"/>
          </a:p>
        </p:txBody>
      </p:sp>
      <p:sp>
        <p:nvSpPr>
          <p:cNvPr id="19" name="Shape 17"/>
          <p:cNvSpPr/>
          <p:nvPr/>
        </p:nvSpPr>
        <p:spPr>
          <a:xfrm>
            <a:off x="8924544" y="1600200"/>
            <a:ext cx="2615184" cy="3200400"/>
          </a:xfrm>
          <a:prstGeom prst="roundRect">
            <a:avLst>
              <a:gd name="adj" fmla="val 3497"/>
            </a:avLst>
          </a:prstGeom>
          <a:solidFill>
            <a:srgbClr val="02C39A"/>
          </a:solidFill>
          <a:ln/>
        </p:spPr>
      </p:sp>
      <p:sp>
        <p:nvSpPr>
          <p:cNvPr id="20" name="Shape 18"/>
          <p:cNvSpPr/>
          <p:nvPr/>
        </p:nvSpPr>
        <p:spPr>
          <a:xfrm>
            <a:off x="9107424" y="1828800"/>
            <a:ext cx="384048" cy="384048"/>
          </a:xfrm>
          <a:prstGeom prst="ellipse">
            <a:avLst/>
          </a:prstGeom>
          <a:solidFill>
            <a:srgbClr val="1E2761"/>
          </a:solidFill>
          <a:ln/>
        </p:spPr>
      </p:sp>
      <p:sp>
        <p:nvSpPr>
          <p:cNvPr id="21" name="Text 19"/>
          <p:cNvSpPr/>
          <p:nvPr/>
        </p:nvSpPr>
        <p:spPr>
          <a:xfrm>
            <a:off x="9107424" y="1828800"/>
            <a:ext cx="384048" cy="384048"/>
          </a:xfrm>
          <a:prstGeom prst="rect">
            <a:avLst/>
          </a:prstGeom>
          <a:noFill/>
          <a:ln/>
        </p:spPr>
        <p:txBody>
          <a:bodyPr wrap="square" lIns="0" tIns="0" rIns="0" bIns="0" rtlCol="0" anchor="ctr"/>
          <a:lstStyle/>
          <a:p>
            <a:pPr marL="0" indent="0" algn="ctr">
              <a:buNone/>
            </a:pPr>
            <a:r>
              <a:rPr lang="en-US" sz="1600" b="1" dirty="0">
                <a:solidFill>
                  <a:srgbClr val="02C39A"/>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9107424" y="2468880"/>
            <a:ext cx="2249424" cy="731520"/>
          </a:xfrm>
          <a:prstGeom prst="rect">
            <a:avLst/>
          </a:prstGeom>
          <a:noFill/>
          <a:ln/>
        </p:spPr>
        <p:txBody>
          <a:bodyPr wrap="square" lIns="0" tIns="0" rIns="0" bIns="0" rtlCol="0" anchor="ctr"/>
          <a:lstStyle/>
          <a:p>
            <a:pPr marL="0" indent="0">
              <a:lnSpc>
                <a:spcPct val="115000"/>
              </a:lnSpc>
              <a:buNone/>
            </a:pPr>
            <a:r>
              <a:rPr lang="en-US" sz="1450" b="1" dirty="0">
                <a:solidFill>
                  <a:srgbClr val="FFFFFF"/>
                </a:solidFill>
                <a:latin typeface="Calibri" pitchFamily="34" charset="0"/>
                <a:ea typeface="Calibri" pitchFamily="34" charset="-122"/>
                <a:cs typeface="Calibri" pitchFamily="34" charset="-120"/>
              </a:rPr>
              <a:t>Plant pilot</a:t>
            </a:r>
            <a:endParaRPr lang="en-US" sz="1450" dirty="0"/>
          </a:p>
        </p:txBody>
      </p:sp>
      <p:sp>
        <p:nvSpPr>
          <p:cNvPr id="23" name="Text 21"/>
          <p:cNvSpPr/>
          <p:nvPr/>
        </p:nvSpPr>
        <p:spPr>
          <a:xfrm>
            <a:off x="9107424" y="3200400"/>
            <a:ext cx="2249424" cy="1463040"/>
          </a:xfrm>
          <a:prstGeom prst="rect">
            <a:avLst/>
          </a:prstGeom>
          <a:noFill/>
          <a:ln/>
        </p:spPr>
        <p:txBody>
          <a:bodyPr wrap="square" lIns="0" tIns="0" rIns="0" bIns="0" rtlCol="0" anchor="ctr"/>
          <a:lstStyle/>
          <a:p>
            <a:pPr marL="0" indent="0">
              <a:lnSpc>
                <a:spcPct val="125000"/>
              </a:lnSpc>
              <a:buNone/>
            </a:pPr>
            <a:r>
              <a:rPr lang="en-US" sz="1050" dirty="0">
                <a:solidFill>
                  <a:srgbClr val="0B4D3C"/>
                </a:solidFill>
                <a:latin typeface="Calibri" pitchFamily="34" charset="0"/>
                <a:ea typeface="Calibri" pitchFamily="34" charset="-122"/>
                <a:cs typeface="Calibri" pitchFamily="34" charset="-120"/>
              </a:rPr>
              <a:t>Real sensor integration, site-specific criticality, validated on that plant's own failure history</a:t>
            </a:r>
            <a:endParaRPr lang="en-US" sz="1050" dirty="0"/>
          </a:p>
        </p:txBody>
      </p:sp>
      <p:sp>
        <p:nvSpPr>
          <p:cNvPr id="24" name="Text 22"/>
          <p:cNvSpPr/>
          <p:nvPr/>
        </p:nvSpPr>
        <p:spPr>
          <a:xfrm>
            <a:off x="640080" y="5074920"/>
            <a:ext cx="10607040" cy="548640"/>
          </a:xfrm>
          <a:prstGeom prst="rect">
            <a:avLst/>
          </a:prstGeom>
          <a:noFill/>
          <a:ln/>
        </p:spPr>
        <p:txBody>
          <a:bodyPr wrap="square" lIns="0" tIns="0" rIns="0" bIns="0" rtlCol="0" anchor="ctr"/>
          <a:lstStyle/>
          <a:p>
            <a:pPr marL="0" indent="0">
              <a:lnSpc>
                <a:spcPct val="125000"/>
              </a:lnSpc>
              <a:buNone/>
            </a:pPr>
            <a:r>
              <a:rPr lang="en-US" sz="1200" i="1" dirty="0">
                <a:solidFill>
                  <a:srgbClr val="6B6F85"/>
                </a:solidFill>
                <a:latin typeface="Calibri" pitchFamily="34" charset="0"/>
                <a:ea typeface="Calibri" pitchFamily="34" charset="-122"/>
                <a:cs typeface="Calibri" pitchFamily="34" charset="-120"/>
              </a:rPr>
              <a:t>Positioning today: a validated forward-deployed solution. A few paid pilot engagements establish repeatability before productizing.</a:t>
            </a:r>
            <a:endParaRPr lang="en-US" sz="1200" dirty="0"/>
          </a:p>
        </p:txBody>
      </p:sp>
      <p:sp>
        <p:nvSpPr>
          <p:cNvPr id="25" name="Text 23"/>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6B6F85"/>
                </a:solidFill>
                <a:latin typeface="Calibri" pitchFamily="34" charset="0"/>
                <a:ea typeface="Calibri" pitchFamily="34" charset="-122"/>
                <a:cs typeface="Calibri" pitchFamily="34" charset="-120"/>
              </a:rPr>
              <a:t>Agentic AI Predictive Maintenance</a:t>
            </a:r>
            <a:endParaRPr lang="en-US" sz="1000" dirty="0"/>
          </a:p>
        </p:txBody>
      </p:sp>
      <p:sp>
        <p:nvSpPr>
          <p:cNvPr id="26" name="Text 24"/>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6F8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822960" y="2468880"/>
            <a:ext cx="10058400" cy="9144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Built. Tested. Validated.</a:t>
            </a:r>
            <a:endParaRPr lang="en-US" sz="3800" dirty="0"/>
          </a:p>
        </p:txBody>
      </p:sp>
      <p:sp>
        <p:nvSpPr>
          <p:cNvPr id="3" name="Text 1"/>
          <p:cNvSpPr/>
          <p:nvPr/>
        </p:nvSpPr>
        <p:spPr>
          <a:xfrm>
            <a:off x="822960" y="3337560"/>
            <a:ext cx="10058400" cy="45720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7 agents  ·  94.7% recall / 93.6% precision  ·  3 real bugs found and fixed  ·  a working demo</a:t>
            </a:r>
            <a:endParaRPr lang="en-US" sz="1500" dirty="0"/>
          </a:p>
        </p:txBody>
      </p:sp>
      <p:sp>
        <p:nvSpPr>
          <p:cNvPr id="4" name="Shape 2"/>
          <p:cNvSpPr/>
          <p:nvPr/>
        </p:nvSpPr>
        <p:spPr>
          <a:xfrm>
            <a:off x="822960" y="3977640"/>
            <a:ext cx="502920" cy="54864"/>
          </a:xfrm>
          <a:prstGeom prst="rect">
            <a:avLst/>
          </a:prstGeom>
          <a:solidFill>
            <a:srgbClr val="02C39A"/>
          </a:solidFill>
          <a:ln/>
        </p:spPr>
      </p:sp>
      <p:sp>
        <p:nvSpPr>
          <p:cNvPr id="5" name="Text 3"/>
          <p:cNvSpPr/>
          <p:nvPr/>
        </p:nvSpPr>
        <p:spPr>
          <a:xfrm>
            <a:off x="822960" y="4251960"/>
            <a:ext cx="7315200" cy="457200"/>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Questions &amp; discussion</a:t>
            </a:r>
            <a:endParaRPr lang="en-US" sz="1400" dirty="0"/>
          </a:p>
        </p:txBody>
      </p:sp>
      <p:sp>
        <p:nvSpPr>
          <p:cNvPr id="6" name="Text 4"/>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Agentic AI Predictive Maintenance</a:t>
            </a:r>
            <a:endParaRPr lang="en-US" sz="1000" dirty="0"/>
          </a:p>
        </p:txBody>
      </p:sp>
      <p:sp>
        <p:nvSpPr>
          <p:cNvPr id="7" name="Text 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1588</Words>
  <Application>Microsoft Office PowerPoint</Application>
  <PresentationFormat>Widescreen</PresentationFormat>
  <Paragraphs>272</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Karthikeyan Palanisamy</cp:lastModifiedBy>
  <cp:revision>2</cp:revision>
  <dcterms:created xsi:type="dcterms:W3CDTF">2026-08-25T06:04:32Z</dcterms:created>
  <dcterms:modified xsi:type="dcterms:W3CDTF">2026-08-25T06:43:11Z</dcterms:modified>
</cp:coreProperties>
</file>